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AD1BB7-DDE5-4523-9CB1-A5AD134CD99F}">
  <a:tblStyle styleId="{F4AD1BB7-DDE5-4523-9CB1-A5AD134CD99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Slide de garde. Remplacer [NOM DU PROJET], [CLIENT], [DATE], version, et insérer les logos.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Synthèse décideur. Une lecture visuelle du projet : problème, solution, valeur + approche/délai/budget.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Schéma Pain points → Solution → Business Value.</a:t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Utilisateurs → Produit → Données → Valeur. Faire apparaître les parcours clés.</a:t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2 à 3 personas. Dupliquer/adapter selon le projet.</a:t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Blocs de domaines. Activer/désactiver selon le périmètre client (ne pas détailler les fonctionnalités ici).</a:t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Parcours = boucle de valeur, aligné sur le board Miro du projet.</a:t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Must / Should / Post-MVP. Montre la capacité à cadrer le périmètre de lancement.</a:t>
            </a:r>
            <a:endParaRPr/>
          </a:p>
        </p:txBody>
      </p:sp>
      <p:sp>
        <p:nvSpPr>
          <p:cNvPr id="246" name="Google Shape;2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Trajectoire produit. Montre comment le produit évolue après le MVP.</a:t>
            </a:r>
            <a:endParaRPr/>
          </a:p>
        </p:txBody>
      </p:sp>
      <p:sp>
        <p:nvSpPr>
          <p:cNvPr id="275" name="Google Shape;2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Le design précède le dev. Emplacements pour wireframes / maquettes / parcours.</a:t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Démo GitHub Pages (Rôle 10). Asset d'avant-vente, données fictives, IA mockée.</a:t>
            </a:r>
            <a:endParaRPr/>
          </a:p>
        </p:txBody>
      </p:sp>
      <p:sp>
        <p:nvSpPr>
          <p:cNvPr id="348" name="Google Shape;34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Schéma logique simple pour décideur non technique.</a:t>
            </a:r>
            <a:endParaRPr/>
          </a:p>
        </p:txBody>
      </p:sp>
      <p:sp>
        <p:nvSpPr>
          <p:cNvPr id="378" name="Google Shape;3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Template modifiable. Architecture headless par défaut : API Métier en surcouche, front SSR découplé.</a:t>
            </a:r>
            <a:endParaRPr/>
          </a:p>
        </p:txBody>
      </p:sp>
      <p:sp>
        <p:nvSpPr>
          <p:cNvPr id="413" name="Google Shape;41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— Vue infra. À activer selon le projet ; peut renvoyer au schéma physique Excalidraw du cadrage plateforme.</a:t>
            </a:r>
            <a:endParaRPr/>
          </a:p>
        </p:txBody>
      </p:sp>
      <p:sp>
        <p:nvSpPr>
          <p:cNvPr id="480" name="Google Shape;4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&amp; STRATÉGIQUE — Message rassurant : Humain → IA → Humain → Tests → Validation.</a:t>
            </a:r>
            <a:endParaRPr/>
          </a:p>
        </p:txBody>
      </p:sp>
      <p:sp>
        <p:nvSpPr>
          <p:cNvPr id="523" name="Google Shape;5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Schéma signature. Boucle 1→10, simple à lire pour un dirigeant.</a:t>
            </a:r>
            <a:endParaRPr/>
          </a:p>
        </p:txBody>
      </p:sp>
      <p:sp>
        <p:nvSpPr>
          <p:cNvPr id="554" name="Google Shape;55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Chaîne QA complète. Montre que l'IA ne retire aucun contrôle.</a:t>
            </a:r>
            <a:endParaRPr/>
          </a:p>
        </p:txBody>
      </p:sp>
      <p:sp>
        <p:nvSpPr>
          <p:cNvPr id="615" name="Google Shape;61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4 couches : Application, Infrastructure, Données, Développement.</a:t>
            </a:r>
            <a:endParaRPr/>
          </a:p>
        </p:txBody>
      </p:sp>
      <p:sp>
        <p:nvSpPr>
          <p:cNvPr id="681" name="Google Shape;68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Réversibilité : le client peut transférer le produit à une autre équipe.</a:t>
            </a:r>
            <a:endParaRPr/>
          </a:p>
        </p:txBody>
      </p:sp>
      <p:sp>
        <p:nvSpPr>
          <p:cNvPr id="713" name="Google Shape;71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— Activer pour sites/e-commerce ; masquer pour un applicatif pur.</a:t>
            </a:r>
            <a:endParaRPr/>
          </a:p>
        </p:txBody>
      </p:sp>
      <p:sp>
        <p:nvSpPr>
          <p:cNvPr id="773" name="Google Shape;77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Build→Measure→Learn + matrice de responsabilité (● = responsable).</a:t>
            </a:r>
            <a:endParaRPr/>
          </a:p>
        </p:txBody>
      </p:sp>
      <p:sp>
        <p:nvSpPr>
          <p:cNvPr id="799" name="Google Shape;79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Présenter les rôles, pas seulement les personnes. Adapter selon le projet.</a:t>
            </a:r>
            <a:endParaRPr/>
          </a:p>
        </p:txBody>
      </p:sp>
      <p:sp>
        <p:nvSpPr>
          <p:cNvPr id="824" name="Google Shape;82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Timeline visuelle. Zone de dates modifiable, pas de planning détaillé.</a:t>
            </a:r>
            <a:endParaRPr/>
          </a:p>
        </p:txBody>
      </p:sp>
      <p:sp>
        <p:nvSpPr>
          <p:cNvPr id="867" name="Google Shape;86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3" name="Google Shape;90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Budget projet (build) découpé par lot + MVP / Post-MVP / infra récurrente. La maintenance (TMA) a sa propre slide budgétée. Aligner avec le devis modulaire.</a:t>
            </a:r>
            <a:endParaRPr/>
          </a:p>
        </p:txBody>
      </p:sp>
      <p:sp>
        <p:nvSpPr>
          <p:cNvPr id="904" name="Google Shape;90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Risque → Impact → Mitigation. Exemples génériques à ajuster par projet.</a:t>
            </a:r>
            <a:endParaRPr/>
          </a:p>
        </p:txBody>
      </p:sp>
      <p:sp>
        <p:nvSpPr>
          <p:cNvPr id="926" name="Google Shape;92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" name="Google Shape;93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Launch → Monitor → Support → Improve → Scale. Introduit la TMA.</a:t>
            </a:r>
            <a:endParaRPr/>
          </a:p>
        </p:txBody>
      </p:sp>
      <p:sp>
        <p:nvSpPr>
          <p:cNvPr id="938" name="Google Shape;93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Budget de maintenance (TMA) : forfait mensuel, budget mensuel/annuel, postes de maintenance chiffrés et niveaux de support. Infra récurrente chiffrée à part (cadrage plateforme). Aligner avec la TMA du devis / chiffrage (Rôle 8).</a:t>
            </a:r>
            <a:endParaRPr/>
          </a:p>
        </p:txBody>
      </p:sp>
      <p:sp>
        <p:nvSpPr>
          <p:cNvPr id="976" name="Google Shape;97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" name="Google Shape;100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— 5 à 7 arguments + call to action clair : cadrer et lancer la Discovery.</a:t>
            </a:r>
            <a:endParaRPr/>
          </a:p>
        </p:txBody>
      </p:sp>
      <p:sp>
        <p:nvSpPr>
          <p:cNvPr id="1008" name="Google Shape;100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11" Type="http://schemas.openxmlformats.org/officeDocument/2006/relationships/image" Target="../media/image33.png"/><Relationship Id="rId10" Type="http://schemas.openxmlformats.org/officeDocument/2006/relationships/image" Target="../media/image54.png"/><Relationship Id="rId12" Type="http://schemas.openxmlformats.org/officeDocument/2006/relationships/image" Target="../media/image20.png"/><Relationship Id="rId9" Type="http://schemas.openxmlformats.org/officeDocument/2006/relationships/image" Target="../media/image34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27.png"/><Relationship Id="rId13" Type="http://schemas.openxmlformats.org/officeDocument/2006/relationships/image" Target="../media/image50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72.png"/><Relationship Id="rId9" Type="http://schemas.openxmlformats.org/officeDocument/2006/relationships/image" Target="../media/image25.png"/><Relationship Id="rId14" Type="http://schemas.openxmlformats.org/officeDocument/2006/relationships/image" Target="../media/image48.png"/><Relationship Id="rId5" Type="http://schemas.openxmlformats.org/officeDocument/2006/relationships/image" Target="../media/image66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png"/><Relationship Id="rId4" Type="http://schemas.openxmlformats.org/officeDocument/2006/relationships/image" Target="../media/image31.png"/><Relationship Id="rId5" Type="http://schemas.openxmlformats.org/officeDocument/2006/relationships/image" Target="../media/image16.png"/><Relationship Id="rId6" Type="http://schemas.openxmlformats.org/officeDocument/2006/relationships/image" Target="../media/image66.png"/><Relationship Id="rId7" Type="http://schemas.openxmlformats.org/officeDocument/2006/relationships/image" Target="../media/image51.png"/><Relationship Id="rId8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62.png"/><Relationship Id="rId9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39.png"/><Relationship Id="rId6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6.png"/><Relationship Id="rId4" Type="http://schemas.openxmlformats.org/officeDocument/2006/relationships/image" Target="../media/image64.png"/><Relationship Id="rId9" Type="http://schemas.openxmlformats.org/officeDocument/2006/relationships/image" Target="../media/image51.png"/><Relationship Id="rId5" Type="http://schemas.openxmlformats.org/officeDocument/2006/relationships/image" Target="../media/image27.png"/><Relationship Id="rId6" Type="http://schemas.openxmlformats.org/officeDocument/2006/relationships/image" Target="../media/image62.png"/><Relationship Id="rId7" Type="http://schemas.openxmlformats.org/officeDocument/2006/relationships/image" Target="../media/image50.png"/><Relationship Id="rId8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9" Type="http://schemas.openxmlformats.org/officeDocument/2006/relationships/image" Target="../media/image33.png"/><Relationship Id="rId5" Type="http://schemas.openxmlformats.org/officeDocument/2006/relationships/image" Target="../media/image62.png"/><Relationship Id="rId6" Type="http://schemas.openxmlformats.org/officeDocument/2006/relationships/image" Target="../media/image66.png"/><Relationship Id="rId7" Type="http://schemas.openxmlformats.org/officeDocument/2006/relationships/image" Target="../media/image26.png"/><Relationship Id="rId8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2.png"/><Relationship Id="rId4" Type="http://schemas.openxmlformats.org/officeDocument/2006/relationships/image" Target="../media/image48.png"/><Relationship Id="rId5" Type="http://schemas.openxmlformats.org/officeDocument/2006/relationships/image" Target="../media/image51.png"/><Relationship Id="rId6" Type="http://schemas.openxmlformats.org/officeDocument/2006/relationships/image" Target="../media/image14.png"/><Relationship Id="rId7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2.png"/><Relationship Id="rId4" Type="http://schemas.openxmlformats.org/officeDocument/2006/relationships/image" Target="../media/image95.png"/><Relationship Id="rId9" Type="http://schemas.openxmlformats.org/officeDocument/2006/relationships/image" Target="../media/image98.png"/><Relationship Id="rId5" Type="http://schemas.openxmlformats.org/officeDocument/2006/relationships/image" Target="../media/image93.png"/><Relationship Id="rId6" Type="http://schemas.openxmlformats.org/officeDocument/2006/relationships/image" Target="../media/image10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869680" y="-2194560"/>
            <a:ext cx="6035040" cy="6035040"/>
          </a:xfrm>
          <a:prstGeom prst="ellipse">
            <a:avLst/>
          </a:prstGeom>
          <a:solidFill>
            <a:srgbClr val="4534B0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424160" y="3566160"/>
            <a:ext cx="3840480" cy="3840480"/>
          </a:xfrm>
          <a:prstGeom prst="ellipse">
            <a:avLst/>
          </a:prstGeom>
          <a:solidFill>
            <a:srgbClr val="5742DE"/>
          </a:solidFill>
          <a:ln cap="flat" cmpd="sng" w="12700">
            <a:solidFill>
              <a:srgbClr val="574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[LOGO CLIENT]   ·   [LOGO DATATOFORM AI / LIKYLY]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286000"/>
            <a:ext cx="8595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[NOM DU PROJET]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34290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Proposition d'accompagnement — Conception, développement et mise en production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Get your time 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Client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[CLIENT]</a:t>
            </a:r>
            <a:r>
              <a:rPr b="0" i="0" lang="en-US" sz="12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        Date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[DATE]</a:t>
            </a:r>
            <a:r>
              <a:rPr b="0" i="0" lang="en-US" sz="12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        Version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[V1.0]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899855" y="5943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Arnaud BRETON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Le projet en 30 secondes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508760"/>
            <a:ext cx="3515258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155" y="197327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822960" y="2606040"/>
            <a:ext cx="296661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Problème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22960" y="2926080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[Le problème métier que vit le client aujourd'hui.]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38218" y="1508760"/>
            <a:ext cx="3515258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612538" y="1783080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2734" y="197327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4612538" y="2606040"/>
            <a:ext cx="296661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612538" y="2926080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[La solution proposée, en une phrase claire.]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127797" y="1508760"/>
            <a:ext cx="3515258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402117" y="1783080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2312" y="197327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8402117" y="2606040"/>
            <a:ext cx="296661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Valeur métier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402117" y="2926080"/>
            <a:ext cx="29666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[Le gain concret : temps, revenus, conformité…]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48640" y="3886200"/>
            <a:ext cx="3515258" cy="1554480"/>
          </a:xfrm>
          <a:prstGeom prst="roundRect">
            <a:avLst>
              <a:gd fmla="val 5294" name="adj"/>
            </a:avLst>
          </a:prstGeom>
          <a:solidFill>
            <a:srgbClr val="3B3F7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822960" y="4114800"/>
            <a:ext cx="296661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APPROCHE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822960" y="4434840"/>
            <a:ext cx="296661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[MVP en cycles courts]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338218" y="3886200"/>
            <a:ext cx="3515258" cy="1554480"/>
          </a:xfrm>
          <a:prstGeom prst="roundRect">
            <a:avLst>
              <a:gd fmla="val 5294" name="adj"/>
            </a:avLst>
          </a:prstGeom>
          <a:solidFill>
            <a:srgbClr val="3B3F7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612538" y="4114800"/>
            <a:ext cx="296661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DÉLAI INDICATIF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612538" y="4434840"/>
            <a:ext cx="296661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 semaines]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127797" y="3886200"/>
            <a:ext cx="3515258" cy="1554480"/>
          </a:xfrm>
          <a:prstGeom prst="roundRect">
            <a:avLst>
              <a:gd fmla="val 5294" name="adj"/>
            </a:avLst>
          </a:prstGeom>
          <a:solidFill>
            <a:srgbClr val="3B3F7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8402117" y="4114800"/>
            <a:ext cx="296661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BUDGET INDICATIF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402117" y="4434840"/>
            <a:ext cx="296661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[XX k€ HT]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COMPRÉHENSION DU BESOIN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Aujourd'hui → Demain → Notre réponse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48640" y="1828800"/>
            <a:ext cx="3271418" cy="3200400"/>
          </a:xfrm>
          <a:prstGeom prst="roundRect">
            <a:avLst>
              <a:gd fmla="val 2571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762" y="235092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868680" y="3063240"/>
            <a:ext cx="26313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Aujourd'hui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68680" y="3474720"/>
            <a:ext cx="263133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[Les points de douleur actuels : tâches manuelles, silos, perte de temps, risques…]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774338" y="32461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460138" y="1828800"/>
            <a:ext cx="3271418" cy="3200400"/>
          </a:xfrm>
          <a:prstGeom prst="roundRect">
            <a:avLst>
              <a:gd fmla="val 2571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780178" y="2148840"/>
            <a:ext cx="777240" cy="77724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2261" y="235092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4780178" y="3063240"/>
            <a:ext cx="26313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Demain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780178" y="3474720"/>
            <a:ext cx="263133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[La cible souhaitée : fluidité, automatisation, visibilité, conformité…]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7685837" y="32461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8371637" y="1828800"/>
            <a:ext cx="3271418" cy="3200400"/>
          </a:xfrm>
          <a:prstGeom prst="roundRect">
            <a:avLst>
              <a:gd fmla="val 2571" name="adj"/>
            </a:avLst>
          </a:prstGeom>
          <a:solidFill>
            <a:srgbClr val="F3F2F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8691677" y="2148840"/>
            <a:ext cx="777240" cy="777240"/>
          </a:xfrm>
          <a:prstGeom prst="ellipse">
            <a:avLst/>
          </a:prstGeom>
          <a:solidFill>
            <a:srgbClr val="5742DE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93759" y="235092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8691677" y="3063240"/>
            <a:ext cx="26313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Notre réponse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691677" y="3474720"/>
            <a:ext cx="263133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[Le produit / service proposé pour aller d'aujourd'hui à demain.]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VISION PRODUIT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Visualiser le produit avant de parler technique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31520" y="2011680"/>
            <a:ext cx="2286000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463040" y="228600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010" y="249997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731520" y="3200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Utilisateurs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017520" y="25603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520440" y="2011680"/>
            <a:ext cx="2286000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251960" y="228600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5930" y="249997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3520440" y="3200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Produit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806440" y="25603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309360" y="2011680"/>
            <a:ext cx="2286000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7040880" y="228600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54850" y="249997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6309360" y="3200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595360" y="25603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9098280" y="2011680"/>
            <a:ext cx="2286000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9829800" y="228600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43770" y="249997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9098280" y="3200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Valeur métier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48640" y="4251960"/>
            <a:ext cx="11094415" cy="1463040"/>
          </a:xfrm>
          <a:prstGeom prst="roundRect">
            <a:avLst>
              <a:gd fmla="val 5625" name="adj"/>
            </a:avLst>
          </a:prstGeom>
          <a:solidFill>
            <a:srgbClr val="F3F2F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868680" y="4434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Parcours utilisateurs principaux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68680" y="4846320"/>
            <a:ext cx="104543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[Parcours 1 — …]      →      [Parcours 2 — …]      →      [Parcours 3 — …]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PERSONAS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À qui s'adresse le produit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48640" y="1737360"/>
            <a:ext cx="5227168" cy="4023360"/>
          </a:xfrm>
          <a:prstGeom prst="roundRect">
            <a:avLst>
              <a:gd fmla="val 204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rgbClr val="3B3F7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144" y="22951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2011680" y="2148840"/>
            <a:ext cx="339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[Persona 1 — rôle]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011680" y="2606040"/>
            <a:ext cx="3398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[Contexte / mission]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914400" y="3246120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Objectifs : </a:t>
            </a: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[…]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14400" y="3813048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Besoins : </a:t>
            </a: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[…]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914400" y="4379976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Frustrations : </a:t>
            </a: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[…]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914400" y="4946904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Actions clés : </a:t>
            </a: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[…]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15888" y="1737360"/>
            <a:ext cx="5227168" cy="4023360"/>
          </a:xfrm>
          <a:prstGeom prst="roundRect">
            <a:avLst>
              <a:gd fmla="val 204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6781648" y="2057400"/>
            <a:ext cx="914400" cy="914400"/>
          </a:xfrm>
          <a:prstGeom prst="ellipse">
            <a:avLst/>
          </a:prstGeom>
          <a:solidFill>
            <a:srgbClr val="3B3F7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9392" y="22951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7878928" y="2148840"/>
            <a:ext cx="339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[Persona 2 — rôle]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878928" y="2606040"/>
            <a:ext cx="3398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[Contexte / mission]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781648" y="3246120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Objectifs : </a:t>
            </a: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[…]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781648" y="3813048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Besoins : </a:t>
            </a: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[…]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781648" y="4379976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Frustrations : </a:t>
            </a: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[…]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781648" y="4946904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Actions clés : </a:t>
            </a: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[…]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PÉRIMÈTRE FONCTIONNEL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Les grands domaines du produit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48640" y="1874520"/>
            <a:ext cx="1999427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1210026" y="2130552"/>
            <a:ext cx="676656" cy="676656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5956" y="2306483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640080" y="2880360"/>
            <a:ext cx="181654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Authentification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822387" y="1874520"/>
            <a:ext cx="1999427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3483773" y="2130552"/>
            <a:ext cx="676656" cy="676656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9703" y="2306483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2913827" y="2880360"/>
            <a:ext cx="181654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Gestion utilisateurs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096134" y="1874520"/>
            <a:ext cx="1999427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757520" y="2130552"/>
            <a:ext cx="676656" cy="676656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3450" y="2306483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5187574" y="2880360"/>
            <a:ext cx="181654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369881" y="1874520"/>
            <a:ext cx="1999427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8031267" y="2130552"/>
            <a:ext cx="676656" cy="676656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07197" y="2306483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/>
          <p:nvPr/>
        </p:nvSpPr>
        <p:spPr>
          <a:xfrm>
            <a:off x="7461321" y="2880360"/>
            <a:ext cx="181654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Gestion des données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9643628" y="1874520"/>
            <a:ext cx="1999427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0305014" y="2130552"/>
            <a:ext cx="676656" cy="676656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80944" y="2306483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9735068" y="2880360"/>
            <a:ext cx="181654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48640" y="3794760"/>
            <a:ext cx="1999427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1210026" y="4050792"/>
            <a:ext cx="676656" cy="676656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5956" y="4226723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640080" y="4800600"/>
            <a:ext cx="181654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822387" y="3794760"/>
            <a:ext cx="1999427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483773" y="4050792"/>
            <a:ext cx="676656" cy="676656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59703" y="4226723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2913827" y="4800600"/>
            <a:ext cx="181654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Paiement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096134" y="3794760"/>
            <a:ext cx="1999427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757520" y="4050792"/>
            <a:ext cx="676656" cy="676656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3450" y="4226723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5187574" y="4800600"/>
            <a:ext cx="181654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Administration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7369881" y="3794760"/>
            <a:ext cx="1999427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8031267" y="4050792"/>
            <a:ext cx="676656" cy="676656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07197" y="4226723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/>
          <p:nvPr/>
        </p:nvSpPr>
        <p:spPr>
          <a:xfrm>
            <a:off x="7461321" y="4800600"/>
            <a:ext cx="181654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643628" y="3794760"/>
            <a:ext cx="1999427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10305014" y="4050792"/>
            <a:ext cx="676656" cy="676656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80944" y="4226723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9735068" y="4800600"/>
            <a:ext cx="181654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USER JOURNEY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La boucle de valeur, du besoin à la valeur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48640" y="2148840"/>
            <a:ext cx="19659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77240" y="23317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165860" y="2606040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6055" y="279623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/>
          <p:nvPr/>
        </p:nvSpPr>
        <p:spPr>
          <a:xfrm>
            <a:off x="548640" y="34290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Découvrir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2496312" y="2743200"/>
            <a:ext cx="338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2834640" y="2148840"/>
            <a:ext cx="19659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063240" y="23317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3451860" y="2606040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2055" y="279623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/>
          <p:nvPr/>
        </p:nvSpPr>
        <p:spPr>
          <a:xfrm>
            <a:off x="2834640" y="34290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S'inscrire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782312" y="2743200"/>
            <a:ext cx="338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120640" y="2148840"/>
            <a:ext cx="19659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5349240" y="23317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737860" y="2606040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8055" y="279623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/>
          <p:nvPr/>
        </p:nvSpPr>
        <p:spPr>
          <a:xfrm>
            <a:off x="5120640" y="34290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Agir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7068312" y="2743200"/>
            <a:ext cx="338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7406640" y="2148840"/>
            <a:ext cx="19659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635240" y="23317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8023860" y="2606040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4055" y="279623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/>
          <p:nvPr/>
        </p:nvSpPr>
        <p:spPr>
          <a:xfrm>
            <a:off x="7406640" y="34290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Obtenir la valeur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9354312" y="2743200"/>
            <a:ext cx="338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9692640" y="2148840"/>
            <a:ext cx="19659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9921240" y="23317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0309860" y="2606040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00055" y="279623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9692640" y="34290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Revenir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48640" y="4434840"/>
            <a:ext cx="11094415" cy="1234440"/>
          </a:xfrm>
          <a:prstGeom prst="roundRect">
            <a:avLst>
              <a:gd fmla="val 6667" name="adj"/>
            </a:avLst>
          </a:prstGeom>
          <a:solidFill>
            <a:srgbClr val="F3F2F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868680" y="4434840"/>
            <a:ext cx="1045433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Cohérent avec le user story mapping Miro : </a:t>
            </a: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backbone = boucle de valeur, colonnes Must / Nice to have / Extra, cartes = user stories par persona.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PÉRIMÈTRE MVP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Prioriser plutôt que tout développer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48640" y="1737360"/>
            <a:ext cx="3393338" cy="4023360"/>
          </a:xfrm>
          <a:prstGeom prst="roundRect">
            <a:avLst>
              <a:gd fmla="val 242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548640" y="1737360"/>
            <a:ext cx="3393338" cy="868680"/>
          </a:xfrm>
          <a:prstGeom prst="roundRect">
            <a:avLst>
              <a:gd fmla="val 9474" name="adj"/>
            </a:avLst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548640" y="2331720"/>
            <a:ext cx="3393338" cy="274320"/>
          </a:xfrm>
          <a:prstGeom prst="rect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822960" y="1828800"/>
            <a:ext cx="284469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Must Have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822960" y="2212848"/>
            <a:ext cx="28446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Indispensable au lancement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68680" y="2880360"/>
            <a:ext cx="275325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[Fonctionnalité clé 1]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[Fonctionnalité clé 2]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[Fonctionnalité clé 3]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399178" y="1737360"/>
            <a:ext cx="3393338" cy="4023360"/>
          </a:xfrm>
          <a:prstGeom prst="roundRect">
            <a:avLst>
              <a:gd fmla="val 242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4399178" y="1737360"/>
            <a:ext cx="3393338" cy="868680"/>
          </a:xfrm>
          <a:prstGeom prst="roundRect">
            <a:avLst>
              <a:gd fmla="val 9474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399178" y="2331720"/>
            <a:ext cx="3393338" cy="274320"/>
          </a:xfrm>
          <a:prstGeom prst="rect">
            <a:avLst/>
          </a:prstGeom>
          <a:solidFill>
            <a:srgbClr val="574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4673498" y="1828800"/>
            <a:ext cx="284469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Should Have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673498" y="2212848"/>
            <a:ext cx="28446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Important, décalable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719218" y="2880360"/>
            <a:ext cx="275325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[Fonctionnalité 4]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[Fonctionnalité 5]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8249717" y="1737360"/>
            <a:ext cx="3393338" cy="4023360"/>
          </a:xfrm>
          <a:prstGeom prst="roundRect">
            <a:avLst>
              <a:gd fmla="val 242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8249717" y="1737360"/>
            <a:ext cx="3393338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8249717" y="2331720"/>
            <a:ext cx="3393338" cy="274320"/>
          </a:xfrm>
          <a:prstGeom prst="rect">
            <a:avLst/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8524037" y="1828800"/>
            <a:ext cx="284469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Post-MVP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8524037" y="2212848"/>
            <a:ext cx="28446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Évolutions futures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8569757" y="2880360"/>
            <a:ext cx="275325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[Évolution 6]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[Évolution 7]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ROADMAP PRODUIT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MVP → V1 → V2 → Scale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1"/>
          <p:cNvCxnSpPr/>
          <p:nvPr/>
        </p:nvCxnSpPr>
        <p:spPr>
          <a:xfrm>
            <a:off x="731520" y="2240280"/>
            <a:ext cx="10728655" cy="0"/>
          </a:xfrm>
          <a:prstGeom prst="straightConnector1">
            <a:avLst/>
          </a:prstGeom>
          <a:noFill/>
          <a:ln cap="flat" cmpd="sng" w="25400">
            <a:solidFill>
              <a:srgbClr val="BCBA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2" name="Google Shape;282;p11"/>
          <p:cNvSpPr/>
          <p:nvPr/>
        </p:nvSpPr>
        <p:spPr>
          <a:xfrm>
            <a:off x="1673352" y="2130552"/>
            <a:ext cx="219456" cy="219456"/>
          </a:xfrm>
          <a:prstGeom prst="ellipse">
            <a:avLst/>
          </a:prstGeom>
          <a:solidFill>
            <a:srgbClr val="3B3F7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548640" y="2606040"/>
            <a:ext cx="2468880" cy="192024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822960" y="2834640"/>
            <a:ext cx="1097280" cy="457200"/>
          </a:xfrm>
          <a:prstGeom prst="roundRect">
            <a:avLst>
              <a:gd fmla="val 20000" name="adj"/>
            </a:avLst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822960" y="28346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822960" y="34290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[Cœur de valeur, lancement]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553712" y="2130552"/>
            <a:ext cx="219456" cy="219456"/>
          </a:xfrm>
          <a:prstGeom prst="ellipse">
            <a:avLst/>
          </a:prstGeom>
          <a:solidFill>
            <a:srgbClr val="5742D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3429000" y="2606040"/>
            <a:ext cx="2468880" cy="192024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703320" y="2834640"/>
            <a:ext cx="1097280" cy="457200"/>
          </a:xfrm>
          <a:prstGeom prst="roundRect">
            <a:avLst>
              <a:gd fmla="val 2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3703320" y="28346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703320" y="34290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[Consolidation, 1res intégrations]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7434072" y="2130552"/>
            <a:ext cx="219456" cy="219456"/>
          </a:xfrm>
          <a:prstGeom prst="ellipse">
            <a:avLst/>
          </a:prstGeom>
          <a:solidFill>
            <a:srgbClr val="4534B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6309360" y="2606040"/>
            <a:ext cx="2468880" cy="192024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6583680" y="2834640"/>
            <a:ext cx="1097280" cy="457200"/>
          </a:xfrm>
          <a:prstGeom prst="roundRect">
            <a:avLst>
              <a:gd fmla="val 20000" name="adj"/>
            </a:avLst>
          </a:prstGeom>
          <a:solidFill>
            <a:srgbClr val="4534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6583680" y="28346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583680" y="34290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[Automatisation, IA étendue]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10314432" y="2130552"/>
            <a:ext cx="219456" cy="219456"/>
          </a:xfrm>
          <a:prstGeom prst="ellipse">
            <a:avLst/>
          </a:prstGeom>
          <a:solidFill>
            <a:srgbClr val="6B6A8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9189720" y="2606040"/>
            <a:ext cx="2468880" cy="192024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9464040" y="2834640"/>
            <a:ext cx="1097280" cy="457200"/>
          </a:xfrm>
          <a:prstGeom prst="roundRect">
            <a:avLst>
              <a:gd fmla="val 20000" name="adj"/>
            </a:avLst>
          </a:prstGeom>
          <a:solidFill>
            <a:srgbClr val="6B6A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9464040" y="28346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9464040" y="34290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[Montée en charge, international]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Nouvelles fonctionnalités · intégrations · IA · analytics · montée en charge · internationalisation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UX &amp;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Concevoir avant de développer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548640" y="1828800"/>
            <a:ext cx="1428162" cy="1051560"/>
          </a:xfrm>
          <a:prstGeom prst="roundRect">
            <a:avLst>
              <a:gd fmla="val 7826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548640" y="1828800"/>
            <a:ext cx="142816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Discovery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958514" y="1828800"/>
            <a:ext cx="21945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2159682" y="1828800"/>
            <a:ext cx="1428162" cy="1051560"/>
          </a:xfrm>
          <a:prstGeom prst="roundRect">
            <a:avLst>
              <a:gd fmla="val 7826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2159682" y="1828800"/>
            <a:ext cx="142816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User Journey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3569556" y="1828800"/>
            <a:ext cx="21945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3770724" y="1828800"/>
            <a:ext cx="1428162" cy="1051560"/>
          </a:xfrm>
          <a:prstGeom prst="roundRect">
            <a:avLst>
              <a:gd fmla="val 7826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3770724" y="1828800"/>
            <a:ext cx="142816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Wireframes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180599" y="1828800"/>
            <a:ext cx="21945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5381767" y="1828800"/>
            <a:ext cx="1428162" cy="1051560"/>
          </a:xfrm>
          <a:prstGeom prst="roundRect">
            <a:avLst>
              <a:gd fmla="val 7826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5381767" y="1828800"/>
            <a:ext cx="142816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UI Design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6791641" y="1828800"/>
            <a:ext cx="21945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6992809" y="1828800"/>
            <a:ext cx="1428162" cy="1051560"/>
          </a:xfrm>
          <a:prstGeom prst="roundRect">
            <a:avLst>
              <a:gd fmla="val 7826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6992809" y="1828800"/>
            <a:ext cx="142816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Prototype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8402683" y="1828800"/>
            <a:ext cx="21945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8603851" y="1828800"/>
            <a:ext cx="1428162" cy="1051560"/>
          </a:xfrm>
          <a:prstGeom prst="roundRect">
            <a:avLst>
              <a:gd fmla="val 7826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8603851" y="1828800"/>
            <a:ext cx="142816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10013725" y="1828800"/>
            <a:ext cx="21945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0214893" y="1828800"/>
            <a:ext cx="1428162" cy="1051560"/>
          </a:xfrm>
          <a:prstGeom prst="roundRect">
            <a:avLst>
              <a:gd fmla="val 7826" name="adj"/>
            </a:avLst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10214893" y="1828800"/>
            <a:ext cx="142816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Dév.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48640" y="3200400"/>
            <a:ext cx="3454298" cy="246888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777240" y="3429000"/>
            <a:ext cx="2997098" cy="320040"/>
          </a:xfrm>
          <a:prstGeom prst="rect">
            <a:avLst/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777240" y="3931920"/>
            <a:ext cx="299709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[Wireframe / capture maquette 1]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368698" y="3200400"/>
            <a:ext cx="3454298" cy="246888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4597298" y="3429000"/>
            <a:ext cx="2997098" cy="320040"/>
          </a:xfrm>
          <a:prstGeom prst="rect">
            <a:avLst/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4597298" y="3931920"/>
            <a:ext cx="299709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[Wireframe / capture maquette 2]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8188757" y="3200400"/>
            <a:ext cx="3454298" cy="246888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8417357" y="3429000"/>
            <a:ext cx="2997098" cy="320040"/>
          </a:xfrm>
          <a:prstGeom prst="rect">
            <a:avLst/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8417357" y="3931920"/>
            <a:ext cx="299709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[Wireframe / capture maquette 3]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DÉMO INTERACTIVE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Un produit manipulable, pas des écrans figés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48640" y="1737360"/>
            <a:ext cx="7315200" cy="3931920"/>
          </a:xfrm>
          <a:prstGeom prst="roundRect">
            <a:avLst>
              <a:gd fmla="val 209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777240" y="1892808"/>
            <a:ext cx="146304" cy="146304"/>
          </a:xfrm>
          <a:prstGeom prst="ellipse">
            <a:avLst/>
          </a:prstGeom>
          <a:solidFill>
            <a:srgbClr val="BCBA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1033272" y="1892808"/>
            <a:ext cx="146304" cy="146304"/>
          </a:xfrm>
          <a:prstGeom prst="ellipse">
            <a:avLst/>
          </a:prstGeom>
          <a:solidFill>
            <a:srgbClr val="BCBA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1289304" y="1892808"/>
            <a:ext cx="146304" cy="146304"/>
          </a:xfrm>
          <a:prstGeom prst="ellipse">
            <a:avLst/>
          </a:prstGeom>
          <a:solidFill>
            <a:srgbClr val="BCBA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1737360" y="1810512"/>
            <a:ext cx="5852160" cy="310896"/>
          </a:xfrm>
          <a:prstGeom prst="rect">
            <a:avLst/>
          </a:prstGeom>
          <a:solidFill>
            <a:srgbClr val="4534B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2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3F2FB"/>
                </a:solidFill>
                <a:latin typeface="Calibri"/>
                <a:ea typeface="Calibri"/>
                <a:cs typeface="Calibri"/>
                <a:sym typeface="Calibri"/>
              </a:rPr>
              <a:t>[URL publique — GitHub Pages]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005840" y="301752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[Aperçu de la démo interactive]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7461" y="20866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/>
          <p:nvPr/>
        </p:nvSpPr>
        <p:spPr>
          <a:xfrm>
            <a:off x="9144000" y="1920240"/>
            <a:ext cx="24990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Manipulable par le prospect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8321040" y="2880360"/>
            <a:ext cx="640080" cy="64008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7461" y="304678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3"/>
          <p:cNvSpPr/>
          <p:nvPr/>
        </p:nvSpPr>
        <p:spPr>
          <a:xfrm>
            <a:off x="9144000" y="2880360"/>
            <a:ext cx="24990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Données 100 % fictives (RGPD-safe)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8321040" y="3840480"/>
            <a:ext cx="640080" cy="64008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7461" y="4006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3"/>
          <p:cNvSpPr/>
          <p:nvPr/>
        </p:nvSpPr>
        <p:spPr>
          <a:xfrm>
            <a:off x="9144000" y="3840480"/>
            <a:ext cx="24990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IA &amp; intégrations mockées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8321040" y="4800600"/>
            <a:ext cx="640080" cy="64008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7461" y="49670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3"/>
          <p:cNvSpPr/>
          <p:nvPr/>
        </p:nvSpPr>
        <p:spPr>
          <a:xfrm>
            <a:off x="9144000" y="4800600"/>
            <a:ext cx="24990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Ré-embarquable en ~20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ARCHITECTURE FONCTIONNELLE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Compréhensible par un décideur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48640" y="1645920"/>
            <a:ext cx="11094415" cy="73152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841248" y="1764792"/>
            <a:ext cx="493776" cy="493776"/>
          </a:xfrm>
          <a:prstGeom prst="ellipse">
            <a:avLst/>
          </a:prstGeom>
          <a:solidFill>
            <a:srgbClr val="6B6A85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6" name="Google Shape;3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630" y="1893174"/>
            <a:ext cx="237012" cy="237012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4"/>
          <p:cNvSpPr/>
          <p:nvPr/>
        </p:nvSpPr>
        <p:spPr>
          <a:xfrm>
            <a:off x="1554480" y="1645920"/>
            <a:ext cx="981425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Utilisateurs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 rot="10800000">
            <a:off x="6013552" y="2418588"/>
            <a:ext cx="164592" cy="128016"/>
          </a:xfrm>
          <a:prstGeom prst="triangle">
            <a:avLst>
              <a:gd fmla="val 50000" name="adj"/>
            </a:avLst>
          </a:prstGeom>
          <a:solidFill>
            <a:srgbClr val="BCBA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548640" y="2596896"/>
            <a:ext cx="11094415" cy="73152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841248" y="2715768"/>
            <a:ext cx="493776" cy="493776"/>
          </a:xfrm>
          <a:prstGeom prst="ellipse">
            <a:avLst/>
          </a:prstGeom>
          <a:solidFill>
            <a:srgbClr val="5742DE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1" name="Google Shape;3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630" y="2844150"/>
            <a:ext cx="237012" cy="23701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4"/>
          <p:cNvSpPr/>
          <p:nvPr/>
        </p:nvSpPr>
        <p:spPr>
          <a:xfrm>
            <a:off x="1554480" y="2596896"/>
            <a:ext cx="981425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 rot="10800000">
            <a:off x="6013552" y="3369564"/>
            <a:ext cx="164592" cy="128016"/>
          </a:xfrm>
          <a:prstGeom prst="triangle">
            <a:avLst>
              <a:gd fmla="val 50000" name="adj"/>
            </a:avLst>
          </a:prstGeom>
          <a:solidFill>
            <a:srgbClr val="BCBA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548640" y="3547872"/>
            <a:ext cx="11094415" cy="73152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841248" y="3666744"/>
            <a:ext cx="493776" cy="493776"/>
          </a:xfrm>
          <a:prstGeom prst="ellipse">
            <a:avLst/>
          </a:prstGeom>
          <a:solidFill>
            <a:srgbClr val="3B3F7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6" name="Google Shape;3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630" y="3795126"/>
            <a:ext cx="237012" cy="237012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4"/>
          <p:cNvSpPr/>
          <p:nvPr/>
        </p:nvSpPr>
        <p:spPr>
          <a:xfrm>
            <a:off x="1554480" y="3547872"/>
            <a:ext cx="981425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API / Backend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 rot="10800000">
            <a:off x="6013552" y="4320540"/>
            <a:ext cx="164592" cy="128016"/>
          </a:xfrm>
          <a:prstGeom prst="triangle">
            <a:avLst>
              <a:gd fmla="val 50000" name="adj"/>
            </a:avLst>
          </a:prstGeom>
          <a:solidFill>
            <a:srgbClr val="BCBA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"/>
          <p:cNvSpPr/>
          <p:nvPr/>
        </p:nvSpPr>
        <p:spPr>
          <a:xfrm>
            <a:off x="548640" y="4498848"/>
            <a:ext cx="11094415" cy="73152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841248" y="4617720"/>
            <a:ext cx="493776" cy="493776"/>
          </a:xfrm>
          <a:prstGeom prst="ellipse">
            <a:avLst/>
          </a:prstGeom>
          <a:solidFill>
            <a:srgbClr val="4534B0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1" name="Google Shape;4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9630" y="4746102"/>
            <a:ext cx="237012" cy="237012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4"/>
          <p:cNvSpPr/>
          <p:nvPr/>
        </p:nvSpPr>
        <p:spPr>
          <a:xfrm>
            <a:off x="1554480" y="4498848"/>
            <a:ext cx="981425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Services métier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 rot="10800000">
            <a:off x="6013552" y="5271516"/>
            <a:ext cx="164592" cy="128016"/>
          </a:xfrm>
          <a:prstGeom prst="triangle">
            <a:avLst>
              <a:gd fmla="val 50000" name="adj"/>
            </a:avLst>
          </a:prstGeom>
          <a:solidFill>
            <a:srgbClr val="BCBA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548640" y="5449824"/>
            <a:ext cx="11094415" cy="73152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841248" y="5568696"/>
            <a:ext cx="493776" cy="493776"/>
          </a:xfrm>
          <a:prstGeom prst="ellipse">
            <a:avLst/>
          </a:prstGeom>
          <a:solidFill>
            <a:srgbClr val="6B6A85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6" name="Google Shape;4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9630" y="5697078"/>
            <a:ext cx="237012" cy="237012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4"/>
          <p:cNvSpPr/>
          <p:nvPr/>
        </p:nvSpPr>
        <p:spPr>
          <a:xfrm>
            <a:off x="1554480" y="5449824"/>
            <a:ext cx="981425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Données · Services externes ·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ARCHITECTURE LOGICIELLE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Vue technique en couches (headless)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548640" y="1645920"/>
            <a:ext cx="11094415" cy="960120"/>
          </a:xfrm>
          <a:prstGeom prst="roundRect">
            <a:avLst>
              <a:gd fmla="val 8571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822960" y="1645920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34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534B0"/>
                </a:solidFill>
                <a:latin typeface="Calibri"/>
                <a:ea typeface="Calibri"/>
                <a:cs typeface="Calibri"/>
                <a:sym typeface="Calibri"/>
              </a:rPr>
              <a:t>Présentation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2743200" y="1810512"/>
            <a:ext cx="4129888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2880360" y="1938528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3" name="Google Shape;4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0212" y="2038380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5"/>
          <p:cNvSpPr/>
          <p:nvPr/>
        </p:nvSpPr>
        <p:spPr>
          <a:xfrm>
            <a:off x="3337560" y="1810512"/>
            <a:ext cx="348980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Frontend SSR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7055968" y="1810512"/>
            <a:ext cx="4129888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7193128" y="1938528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7" name="Google Shape;4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2980" y="2038380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5"/>
          <p:cNvSpPr/>
          <p:nvPr/>
        </p:nvSpPr>
        <p:spPr>
          <a:xfrm>
            <a:off x="7650328" y="1810512"/>
            <a:ext cx="348980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App mobile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548640" y="2715768"/>
            <a:ext cx="11094415" cy="960120"/>
          </a:xfrm>
          <a:prstGeom prst="roundRect">
            <a:avLst>
              <a:gd fmla="val 8571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822960" y="2715768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34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534B0"/>
                </a:solidFill>
                <a:latin typeface="Calibri"/>
                <a:ea typeface="Calibri"/>
                <a:cs typeface="Calibri"/>
                <a:sym typeface="Calibri"/>
              </a:rPr>
              <a:t>API &amp; métier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2743200" y="2880360"/>
            <a:ext cx="2692298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2880360" y="3008376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3" name="Google Shape;43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0212" y="3108228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5"/>
          <p:cNvSpPr/>
          <p:nvPr/>
        </p:nvSpPr>
        <p:spPr>
          <a:xfrm>
            <a:off x="3337560" y="2880360"/>
            <a:ext cx="205221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API Métier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5618378" y="2880360"/>
            <a:ext cx="2692298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5755538" y="3008376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7" name="Google Shape;4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5391" y="3108228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5"/>
          <p:cNvSpPr/>
          <p:nvPr/>
        </p:nvSpPr>
        <p:spPr>
          <a:xfrm>
            <a:off x="6212738" y="2880360"/>
            <a:ext cx="205221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8493557" y="2880360"/>
            <a:ext cx="2692298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8630717" y="3008376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30569" y="3108228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5"/>
          <p:cNvSpPr/>
          <p:nvPr/>
        </p:nvSpPr>
        <p:spPr>
          <a:xfrm>
            <a:off x="9087917" y="2880360"/>
            <a:ext cx="205221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Workers / Queue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548640" y="3785616"/>
            <a:ext cx="11094415" cy="960120"/>
          </a:xfrm>
          <a:prstGeom prst="roundRect">
            <a:avLst>
              <a:gd fmla="val 8571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822960" y="3785616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34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534B0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2743200" y="3950208"/>
            <a:ext cx="1973504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2880360" y="4078224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7" name="Google Shape;44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80212" y="4178076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5"/>
          <p:cNvSpPr/>
          <p:nvPr/>
        </p:nvSpPr>
        <p:spPr>
          <a:xfrm>
            <a:off x="3337560" y="3950208"/>
            <a:ext cx="133342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4899584" y="3950208"/>
            <a:ext cx="1973504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5036744" y="4078224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1" name="Google Shape;45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36596" y="4178076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5"/>
          <p:cNvSpPr/>
          <p:nvPr/>
        </p:nvSpPr>
        <p:spPr>
          <a:xfrm>
            <a:off x="5493944" y="3950208"/>
            <a:ext cx="133342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7055968" y="3950208"/>
            <a:ext cx="1973504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7193128" y="4078224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5" name="Google Shape;45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92980" y="4178076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5"/>
          <p:cNvSpPr/>
          <p:nvPr/>
        </p:nvSpPr>
        <p:spPr>
          <a:xfrm>
            <a:off x="7650328" y="3950208"/>
            <a:ext cx="133342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9212351" y="3950208"/>
            <a:ext cx="1973504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9349511" y="4078224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9" name="Google Shape;45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49364" y="4178076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5"/>
          <p:cNvSpPr/>
          <p:nvPr/>
        </p:nvSpPr>
        <p:spPr>
          <a:xfrm>
            <a:off x="9806711" y="3950208"/>
            <a:ext cx="133342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548640" y="4855464"/>
            <a:ext cx="11094415" cy="960120"/>
          </a:xfrm>
          <a:prstGeom prst="roundRect">
            <a:avLst>
              <a:gd fmla="val 8571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822960" y="4855464"/>
            <a:ext cx="1920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34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534B0"/>
                </a:solidFill>
                <a:latin typeface="Calibri"/>
                <a:ea typeface="Calibri"/>
                <a:cs typeface="Calibri"/>
                <a:sym typeface="Calibri"/>
              </a:rPr>
              <a:t>Capacités &amp; tiers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2743200" y="5020056"/>
            <a:ext cx="2692298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2880360" y="5148072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5" name="Google Shape;46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980212" y="5247924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5"/>
          <p:cNvSpPr/>
          <p:nvPr/>
        </p:nvSpPr>
        <p:spPr>
          <a:xfrm>
            <a:off x="3337560" y="5020056"/>
            <a:ext cx="205221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IA / LLM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5618378" y="5020056"/>
            <a:ext cx="2692298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5755538" y="5148072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9" name="Google Shape;46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55391" y="5247924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5"/>
          <p:cNvSpPr/>
          <p:nvPr/>
        </p:nvSpPr>
        <p:spPr>
          <a:xfrm>
            <a:off x="6212738" y="5020056"/>
            <a:ext cx="205221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Services externes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8493557" y="5020056"/>
            <a:ext cx="2692298" cy="630936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8630717" y="5148072"/>
            <a:ext cx="384048" cy="38404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3" name="Google Shape;473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730569" y="5247924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5"/>
          <p:cNvSpPr/>
          <p:nvPr/>
        </p:nvSpPr>
        <p:spPr>
          <a:xfrm>
            <a:off x="9087917" y="5020056"/>
            <a:ext cx="205221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Monitoring / CI-CD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INFRASTRUCTURE / CLOUD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Du trafic public jusqu'aux données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F3F2FB"/>
          </a:solidFill>
          <a:ln cap="flat" cmpd="sng" w="12700">
            <a:solidFill>
              <a:srgbClr val="BCB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534B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534B0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548640" y="2011680"/>
            <a:ext cx="1658569" cy="1737360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1012165" y="2267712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8" name="Google Shape;4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360" y="245790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6"/>
          <p:cNvSpPr/>
          <p:nvPr/>
        </p:nvSpPr>
        <p:spPr>
          <a:xfrm>
            <a:off x="548640" y="3108960"/>
            <a:ext cx="16585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2161489" y="256032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2435809" y="2011680"/>
            <a:ext cx="1658569" cy="1737360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6"/>
          <p:cNvSpPr/>
          <p:nvPr/>
        </p:nvSpPr>
        <p:spPr>
          <a:xfrm>
            <a:off x="2899334" y="2267712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3" name="Google Shape;49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9529" y="245790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6"/>
          <p:cNvSpPr/>
          <p:nvPr/>
        </p:nvSpPr>
        <p:spPr>
          <a:xfrm>
            <a:off x="2435809" y="3108960"/>
            <a:ext cx="16585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CDN / WAF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4048658" y="256032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4322978" y="2011680"/>
            <a:ext cx="1658569" cy="1737360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4786503" y="2267712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8" name="Google Shape;49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6698" y="245790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6"/>
          <p:cNvSpPr/>
          <p:nvPr/>
        </p:nvSpPr>
        <p:spPr>
          <a:xfrm>
            <a:off x="4322978" y="3108960"/>
            <a:ext cx="16585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5935828" y="256032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6210148" y="2011680"/>
            <a:ext cx="1658569" cy="1737360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6673672" y="2267712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3867" y="245790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6"/>
          <p:cNvSpPr/>
          <p:nvPr/>
        </p:nvSpPr>
        <p:spPr>
          <a:xfrm>
            <a:off x="6210148" y="3108960"/>
            <a:ext cx="16585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7822997" y="256032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8097317" y="2011680"/>
            <a:ext cx="1658569" cy="1737360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8560841" y="2267712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8" name="Google Shape;50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51037" y="245790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6"/>
          <p:cNvSpPr/>
          <p:nvPr/>
        </p:nvSpPr>
        <p:spPr>
          <a:xfrm>
            <a:off x="8097317" y="3108960"/>
            <a:ext cx="16585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9710166" y="256032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9984486" y="2011680"/>
            <a:ext cx="1658569" cy="1737360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10448011" y="2267712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3" name="Google Shape;51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38206" y="245790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6"/>
          <p:cNvSpPr/>
          <p:nvPr/>
        </p:nvSpPr>
        <p:spPr>
          <a:xfrm>
            <a:off x="9984486" y="3108960"/>
            <a:ext cx="16585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548640" y="4206240"/>
            <a:ext cx="11094415" cy="1463040"/>
          </a:xfrm>
          <a:prstGeom prst="roundRect">
            <a:avLst>
              <a:gd fmla="val 5625" name="adj"/>
            </a:avLst>
          </a:prstGeom>
          <a:solidFill>
            <a:srgbClr val="F3F2F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822960" y="4343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34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534B0"/>
                </a:solidFill>
                <a:latin typeface="Calibri"/>
                <a:ea typeface="Calibri"/>
                <a:cs typeface="Calibri"/>
                <a:sym typeface="Calibri"/>
              </a:rPr>
              <a:t>Transverse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822960" y="4709160"/>
            <a:ext cx="1054577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Containers / VM · object storage · backups · monitoring · logs · secrets — indépendant d'un fournisseur cloud particulier.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548640" y="7315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DÉVELOPPEMENT ASSISTÉ PAR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548640" y="11430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L'IA accélère le développement.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Elle ne remplace pas l'ingénierie.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548640" y="2880360"/>
            <a:ext cx="1999427" cy="1554480"/>
          </a:xfrm>
          <a:prstGeom prst="roundRect">
            <a:avLst>
              <a:gd fmla="val 5294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548640" y="3136392"/>
            <a:ext cx="19994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685800" y="3657600"/>
            <a:ext cx="1725107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Spécifie &amp; décide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2502347" y="3429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2822387" y="2880360"/>
            <a:ext cx="1999427" cy="1554480"/>
          </a:xfrm>
          <a:prstGeom prst="roundRect">
            <a:avLst>
              <a:gd fmla="val 5294" name="adj"/>
            </a:avLst>
          </a:prstGeom>
          <a:solidFill>
            <a:srgbClr val="5742DE"/>
          </a:solidFill>
          <a:ln cap="flat" cmpd="sng" w="12700">
            <a:solidFill>
              <a:srgbClr val="574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7"/>
          <p:cNvSpPr/>
          <p:nvPr/>
        </p:nvSpPr>
        <p:spPr>
          <a:xfrm>
            <a:off x="2822387" y="3136392"/>
            <a:ext cx="19994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2959547" y="3657600"/>
            <a:ext cx="1725107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Produit plus vite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4776094" y="3429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5096134" y="2880360"/>
            <a:ext cx="1999427" cy="1554480"/>
          </a:xfrm>
          <a:prstGeom prst="roundRect">
            <a:avLst>
              <a:gd fmla="val 5294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7"/>
          <p:cNvSpPr/>
          <p:nvPr/>
        </p:nvSpPr>
        <p:spPr>
          <a:xfrm>
            <a:off x="5096134" y="3136392"/>
            <a:ext cx="19994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5233294" y="3657600"/>
            <a:ext cx="1725107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Revoit &amp; valide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7049841" y="3429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7369881" y="2880360"/>
            <a:ext cx="1999427" cy="1554480"/>
          </a:xfrm>
          <a:prstGeom prst="roundRect">
            <a:avLst>
              <a:gd fmla="val 5294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7"/>
          <p:cNvSpPr/>
          <p:nvPr/>
        </p:nvSpPr>
        <p:spPr>
          <a:xfrm>
            <a:off x="7369881" y="3136392"/>
            <a:ext cx="19994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7507041" y="3657600"/>
            <a:ext cx="1725107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Vérifient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9323588" y="3429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9643628" y="2880360"/>
            <a:ext cx="1999427" cy="1554480"/>
          </a:xfrm>
          <a:prstGeom prst="roundRect">
            <a:avLst>
              <a:gd fmla="val 5294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7"/>
          <p:cNvSpPr/>
          <p:nvPr/>
        </p:nvSpPr>
        <p:spPr>
          <a:xfrm>
            <a:off x="9643628" y="3136392"/>
            <a:ext cx="19994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9780788" y="3657600"/>
            <a:ext cx="1725107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Engage la responsabilité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548640" y="5029200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L'IA intervient sur : génération de code, refactoring, documentation, tests, analyse, SQL, composants — jamais comme décideur autonome ni responsable du produit.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8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CONTRÔLE DU DÉVELOPPEMENT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Une boucle de contrôle qualité, de la spéc à la prod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548640" y="1828800"/>
            <a:ext cx="2014057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8"/>
          <p:cNvSpPr/>
          <p:nvPr/>
        </p:nvSpPr>
        <p:spPr>
          <a:xfrm>
            <a:off x="1336213" y="1956816"/>
            <a:ext cx="438912" cy="438912"/>
          </a:xfrm>
          <a:prstGeom prst="ellipse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8"/>
          <p:cNvSpPr/>
          <p:nvPr/>
        </p:nvSpPr>
        <p:spPr>
          <a:xfrm>
            <a:off x="1336213" y="195681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621792" y="2432304"/>
            <a:ext cx="18677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Spécification humaine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2526121" y="217170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2818729" y="1828800"/>
            <a:ext cx="2014057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8"/>
          <p:cNvSpPr/>
          <p:nvPr/>
        </p:nvSpPr>
        <p:spPr>
          <a:xfrm>
            <a:off x="3606302" y="1956816"/>
            <a:ext cx="438912" cy="438912"/>
          </a:xfrm>
          <a:prstGeom prst="ellipse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3606302" y="195681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2891881" y="2432304"/>
            <a:ext cx="18677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Architecture &amp; règles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4796211" y="217170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5088819" y="1828800"/>
            <a:ext cx="2014057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5876392" y="1956816"/>
            <a:ext cx="438912" cy="438912"/>
          </a:xfrm>
          <a:prstGeom prst="ellipse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5876392" y="195681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5161971" y="2432304"/>
            <a:ext cx="18677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Production assistée 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7066300" y="217170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7358908" y="1828800"/>
            <a:ext cx="2014057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8146481" y="1956816"/>
            <a:ext cx="438912" cy="438912"/>
          </a:xfrm>
          <a:prstGeom prst="ellipse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8"/>
          <p:cNvSpPr/>
          <p:nvPr/>
        </p:nvSpPr>
        <p:spPr>
          <a:xfrm>
            <a:off x="8146481" y="195681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7432060" y="2432304"/>
            <a:ext cx="18677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Revue humaine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8"/>
          <p:cNvSpPr/>
          <p:nvPr/>
        </p:nvSpPr>
        <p:spPr>
          <a:xfrm>
            <a:off x="9336390" y="217170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/>
          <p:nvPr/>
        </p:nvSpPr>
        <p:spPr>
          <a:xfrm>
            <a:off x="9628998" y="1828800"/>
            <a:ext cx="2014057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8"/>
          <p:cNvSpPr/>
          <p:nvPr/>
        </p:nvSpPr>
        <p:spPr>
          <a:xfrm>
            <a:off x="10416570" y="1956816"/>
            <a:ext cx="438912" cy="438912"/>
          </a:xfrm>
          <a:prstGeom prst="ellipse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10416570" y="195681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9702150" y="2432304"/>
            <a:ext cx="18677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Tests automatisés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10453146" y="2926080"/>
            <a:ext cx="365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9628998" y="3794760"/>
            <a:ext cx="2014057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10416570" y="3922776"/>
            <a:ext cx="438912" cy="438912"/>
          </a:xfrm>
          <a:prstGeom prst="ellipse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8"/>
          <p:cNvSpPr/>
          <p:nvPr/>
        </p:nvSpPr>
        <p:spPr>
          <a:xfrm>
            <a:off x="10416570" y="392277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9702150" y="4398264"/>
            <a:ext cx="18677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Tests fonctionnels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9354678" y="4110228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7358908" y="3794760"/>
            <a:ext cx="2014057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8"/>
          <p:cNvSpPr/>
          <p:nvPr/>
        </p:nvSpPr>
        <p:spPr>
          <a:xfrm>
            <a:off x="8146481" y="3922776"/>
            <a:ext cx="438912" cy="438912"/>
          </a:xfrm>
          <a:prstGeom prst="ellipse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8"/>
          <p:cNvSpPr/>
          <p:nvPr/>
        </p:nvSpPr>
        <p:spPr>
          <a:xfrm>
            <a:off x="8146481" y="392277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7432060" y="4398264"/>
            <a:ext cx="18677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Security checks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7084588" y="4110228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5088819" y="3794760"/>
            <a:ext cx="2014057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8"/>
          <p:cNvSpPr/>
          <p:nvPr/>
        </p:nvSpPr>
        <p:spPr>
          <a:xfrm>
            <a:off x="5876392" y="3922776"/>
            <a:ext cx="438912" cy="438912"/>
          </a:xfrm>
          <a:prstGeom prst="ellipse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5876392" y="392277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5161971" y="4398264"/>
            <a:ext cx="18677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4814499" y="4110228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2818729" y="3794760"/>
            <a:ext cx="2014057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8"/>
          <p:cNvSpPr/>
          <p:nvPr/>
        </p:nvSpPr>
        <p:spPr>
          <a:xfrm>
            <a:off x="3606302" y="3922776"/>
            <a:ext cx="438912" cy="438912"/>
          </a:xfrm>
          <a:prstGeom prst="ellipse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8"/>
          <p:cNvSpPr/>
          <p:nvPr/>
        </p:nvSpPr>
        <p:spPr>
          <a:xfrm>
            <a:off x="3606302" y="392277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2891881" y="4398264"/>
            <a:ext cx="18677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CI / CD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2544409" y="4110228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548640" y="3794760"/>
            <a:ext cx="2014057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8"/>
          <p:cNvSpPr/>
          <p:nvPr/>
        </p:nvSpPr>
        <p:spPr>
          <a:xfrm>
            <a:off x="1336213" y="3922776"/>
            <a:ext cx="438912" cy="438912"/>
          </a:xfrm>
          <a:prstGeom prst="ellipse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8"/>
          <p:cNvSpPr/>
          <p:nvPr/>
        </p:nvSpPr>
        <p:spPr>
          <a:xfrm>
            <a:off x="1336213" y="392277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8"/>
          <p:cNvSpPr/>
          <p:nvPr/>
        </p:nvSpPr>
        <p:spPr>
          <a:xfrm>
            <a:off x="621792" y="4398264"/>
            <a:ext cx="18677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Mise en 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548640" y="516636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534B0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4534B0"/>
                </a:solidFill>
                <a:latin typeface="Calibri"/>
                <a:ea typeface="Calibri"/>
                <a:cs typeface="Calibri"/>
                <a:sym typeface="Calibri"/>
              </a:rPr>
              <a:t>L'IA produit plus vite. L'équipe contrôle ce qui est produit.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9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QUALITY ASSURANCE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L'IA ne supprime aucune étape de contrôle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9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9"/>
          <p:cNvSpPr/>
          <p:nvPr/>
        </p:nvSpPr>
        <p:spPr>
          <a:xfrm>
            <a:off x="548640" y="1828800"/>
            <a:ext cx="1274788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9"/>
          <p:cNvSpPr/>
          <p:nvPr/>
        </p:nvSpPr>
        <p:spPr>
          <a:xfrm>
            <a:off x="548640" y="1828800"/>
            <a:ext cx="12747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1805140" y="1828800"/>
            <a:ext cx="1645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9"/>
          <p:cNvSpPr/>
          <p:nvPr/>
        </p:nvSpPr>
        <p:spPr>
          <a:xfrm>
            <a:off x="1951444" y="1828800"/>
            <a:ext cx="1274788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9"/>
          <p:cNvSpPr/>
          <p:nvPr/>
        </p:nvSpPr>
        <p:spPr>
          <a:xfrm>
            <a:off x="1951444" y="1828800"/>
            <a:ext cx="12747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9"/>
          <p:cNvSpPr/>
          <p:nvPr/>
        </p:nvSpPr>
        <p:spPr>
          <a:xfrm>
            <a:off x="3207944" y="1828800"/>
            <a:ext cx="1645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9"/>
          <p:cNvSpPr/>
          <p:nvPr/>
        </p:nvSpPr>
        <p:spPr>
          <a:xfrm>
            <a:off x="3354248" y="1828800"/>
            <a:ext cx="1274788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9"/>
          <p:cNvSpPr/>
          <p:nvPr/>
        </p:nvSpPr>
        <p:spPr>
          <a:xfrm>
            <a:off x="3354248" y="1828800"/>
            <a:ext cx="12747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9"/>
          <p:cNvSpPr/>
          <p:nvPr/>
        </p:nvSpPr>
        <p:spPr>
          <a:xfrm>
            <a:off x="4610748" y="1828800"/>
            <a:ext cx="1645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9"/>
          <p:cNvSpPr/>
          <p:nvPr/>
        </p:nvSpPr>
        <p:spPr>
          <a:xfrm>
            <a:off x="4757052" y="1828800"/>
            <a:ext cx="1274788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9"/>
          <p:cNvSpPr/>
          <p:nvPr/>
        </p:nvSpPr>
        <p:spPr>
          <a:xfrm>
            <a:off x="4757052" y="1828800"/>
            <a:ext cx="12747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9"/>
          <p:cNvSpPr/>
          <p:nvPr/>
        </p:nvSpPr>
        <p:spPr>
          <a:xfrm>
            <a:off x="6013552" y="1828800"/>
            <a:ext cx="1645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/>
          <p:nvPr/>
        </p:nvSpPr>
        <p:spPr>
          <a:xfrm>
            <a:off x="6159856" y="1828800"/>
            <a:ext cx="1274788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9"/>
          <p:cNvSpPr/>
          <p:nvPr/>
        </p:nvSpPr>
        <p:spPr>
          <a:xfrm>
            <a:off x="6159856" y="1828800"/>
            <a:ext cx="12747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QA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9"/>
          <p:cNvSpPr/>
          <p:nvPr/>
        </p:nvSpPr>
        <p:spPr>
          <a:xfrm>
            <a:off x="7416356" y="1828800"/>
            <a:ext cx="1645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9"/>
          <p:cNvSpPr/>
          <p:nvPr/>
        </p:nvSpPr>
        <p:spPr>
          <a:xfrm>
            <a:off x="7562659" y="1828800"/>
            <a:ext cx="1274788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9"/>
          <p:cNvSpPr/>
          <p:nvPr/>
        </p:nvSpPr>
        <p:spPr>
          <a:xfrm>
            <a:off x="7562659" y="1828800"/>
            <a:ext cx="12747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Staging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9"/>
          <p:cNvSpPr/>
          <p:nvPr/>
        </p:nvSpPr>
        <p:spPr>
          <a:xfrm>
            <a:off x="8819159" y="1828800"/>
            <a:ext cx="1645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9"/>
          <p:cNvSpPr/>
          <p:nvPr/>
        </p:nvSpPr>
        <p:spPr>
          <a:xfrm>
            <a:off x="8965463" y="1828800"/>
            <a:ext cx="1274788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9"/>
          <p:cNvSpPr/>
          <p:nvPr/>
        </p:nvSpPr>
        <p:spPr>
          <a:xfrm>
            <a:off x="8965463" y="1828800"/>
            <a:ext cx="12747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9"/>
          <p:cNvSpPr/>
          <p:nvPr/>
        </p:nvSpPr>
        <p:spPr>
          <a:xfrm>
            <a:off x="10221963" y="1828800"/>
            <a:ext cx="1645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9"/>
          <p:cNvSpPr/>
          <p:nvPr/>
        </p:nvSpPr>
        <p:spPr>
          <a:xfrm>
            <a:off x="10368267" y="1828800"/>
            <a:ext cx="1274788" cy="868680"/>
          </a:xfrm>
          <a:prstGeom prst="roundRect">
            <a:avLst>
              <a:gd fmla="val 9474" name="adj"/>
            </a:avLst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9"/>
          <p:cNvSpPr/>
          <p:nvPr/>
        </p:nvSpPr>
        <p:spPr>
          <a:xfrm>
            <a:off x="10368267" y="1828800"/>
            <a:ext cx="12747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9"/>
          <p:cNvSpPr/>
          <p:nvPr/>
        </p:nvSpPr>
        <p:spPr>
          <a:xfrm>
            <a:off x="548640" y="3063240"/>
            <a:ext cx="2567864" cy="77724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9"/>
          <p:cNvSpPr/>
          <p:nvPr/>
        </p:nvSpPr>
        <p:spPr>
          <a:xfrm>
            <a:off x="685800" y="3236976"/>
            <a:ext cx="429768" cy="42976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6" name="Google Shape;6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540" y="3348716"/>
            <a:ext cx="206289" cy="20628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19"/>
          <p:cNvSpPr/>
          <p:nvPr/>
        </p:nvSpPr>
        <p:spPr>
          <a:xfrm>
            <a:off x="1207008" y="3063240"/>
            <a:ext cx="1836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Unitaires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9"/>
          <p:cNvSpPr/>
          <p:nvPr/>
        </p:nvSpPr>
        <p:spPr>
          <a:xfrm>
            <a:off x="3390824" y="3063240"/>
            <a:ext cx="2567864" cy="77724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9"/>
          <p:cNvSpPr/>
          <p:nvPr/>
        </p:nvSpPr>
        <p:spPr>
          <a:xfrm>
            <a:off x="3527984" y="3236976"/>
            <a:ext cx="429768" cy="42976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0" name="Google Shape;6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9723" y="3348716"/>
            <a:ext cx="206289" cy="20628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9"/>
          <p:cNvSpPr/>
          <p:nvPr/>
        </p:nvSpPr>
        <p:spPr>
          <a:xfrm>
            <a:off x="4049192" y="3063240"/>
            <a:ext cx="1836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Intégration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6233008" y="3063240"/>
            <a:ext cx="2567864" cy="77724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9"/>
          <p:cNvSpPr/>
          <p:nvPr/>
        </p:nvSpPr>
        <p:spPr>
          <a:xfrm>
            <a:off x="6370168" y="3236976"/>
            <a:ext cx="429768" cy="42976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4" name="Google Shape;6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1907" y="3348716"/>
            <a:ext cx="206289" cy="206289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19"/>
          <p:cNvSpPr/>
          <p:nvPr/>
        </p:nvSpPr>
        <p:spPr>
          <a:xfrm>
            <a:off x="6891376" y="3063240"/>
            <a:ext cx="1836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End-to-end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9"/>
          <p:cNvSpPr/>
          <p:nvPr/>
        </p:nvSpPr>
        <p:spPr>
          <a:xfrm>
            <a:off x="9075191" y="3063240"/>
            <a:ext cx="2567864" cy="77724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9"/>
          <p:cNvSpPr/>
          <p:nvPr/>
        </p:nvSpPr>
        <p:spPr>
          <a:xfrm>
            <a:off x="9212351" y="3236976"/>
            <a:ext cx="429768" cy="42976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8" name="Google Shape;65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4091" y="3348716"/>
            <a:ext cx="206289" cy="20628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19"/>
          <p:cNvSpPr/>
          <p:nvPr/>
        </p:nvSpPr>
        <p:spPr>
          <a:xfrm>
            <a:off x="9733559" y="3063240"/>
            <a:ext cx="1836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Non-régression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9"/>
          <p:cNvSpPr/>
          <p:nvPr/>
        </p:nvSpPr>
        <p:spPr>
          <a:xfrm>
            <a:off x="548640" y="4114800"/>
            <a:ext cx="2567864" cy="77724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9"/>
          <p:cNvSpPr/>
          <p:nvPr/>
        </p:nvSpPr>
        <p:spPr>
          <a:xfrm>
            <a:off x="685800" y="4288536"/>
            <a:ext cx="429768" cy="42976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2" name="Google Shape;66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7540" y="4400276"/>
            <a:ext cx="206289" cy="20628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19"/>
          <p:cNvSpPr/>
          <p:nvPr/>
        </p:nvSpPr>
        <p:spPr>
          <a:xfrm>
            <a:off x="1207008" y="4114800"/>
            <a:ext cx="1836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9"/>
          <p:cNvSpPr/>
          <p:nvPr/>
        </p:nvSpPr>
        <p:spPr>
          <a:xfrm>
            <a:off x="3390824" y="4114800"/>
            <a:ext cx="2567864" cy="77724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9"/>
          <p:cNvSpPr/>
          <p:nvPr/>
        </p:nvSpPr>
        <p:spPr>
          <a:xfrm>
            <a:off x="3527984" y="4288536"/>
            <a:ext cx="429768" cy="42976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6" name="Google Shape;66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9723" y="4400276"/>
            <a:ext cx="206289" cy="20628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19"/>
          <p:cNvSpPr/>
          <p:nvPr/>
        </p:nvSpPr>
        <p:spPr>
          <a:xfrm>
            <a:off x="4049192" y="4114800"/>
            <a:ext cx="1836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Sécurité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9"/>
          <p:cNvSpPr/>
          <p:nvPr/>
        </p:nvSpPr>
        <p:spPr>
          <a:xfrm>
            <a:off x="6233008" y="4114800"/>
            <a:ext cx="2567864" cy="77724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9"/>
          <p:cNvSpPr/>
          <p:nvPr/>
        </p:nvSpPr>
        <p:spPr>
          <a:xfrm>
            <a:off x="6370168" y="4288536"/>
            <a:ext cx="429768" cy="42976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0" name="Google Shape;67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1907" y="4400276"/>
            <a:ext cx="206289" cy="206289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19"/>
          <p:cNvSpPr/>
          <p:nvPr/>
        </p:nvSpPr>
        <p:spPr>
          <a:xfrm>
            <a:off x="6891376" y="4114800"/>
            <a:ext cx="1836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Validation métier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9"/>
          <p:cNvSpPr/>
          <p:nvPr/>
        </p:nvSpPr>
        <p:spPr>
          <a:xfrm>
            <a:off x="9075191" y="4114800"/>
            <a:ext cx="2567864" cy="77724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9"/>
          <p:cNvSpPr/>
          <p:nvPr/>
        </p:nvSpPr>
        <p:spPr>
          <a:xfrm>
            <a:off x="9212351" y="4288536"/>
            <a:ext cx="429768" cy="429768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4" name="Google Shape;67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24091" y="4400276"/>
            <a:ext cx="206289" cy="20628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19"/>
          <p:cNvSpPr/>
          <p:nvPr/>
        </p:nvSpPr>
        <p:spPr>
          <a:xfrm>
            <a:off x="9733559" y="4114800"/>
            <a:ext cx="183634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Revue de code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SÉCURITÉ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0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Security by Design, en couches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0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0"/>
          <p:cNvSpPr/>
          <p:nvPr/>
        </p:nvSpPr>
        <p:spPr>
          <a:xfrm>
            <a:off x="548640" y="1783080"/>
            <a:ext cx="5318608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0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3B3F7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9" name="Google Shape;6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2650" y="23170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0"/>
          <p:cNvSpPr/>
          <p:nvPr/>
        </p:nvSpPr>
        <p:spPr>
          <a:xfrm>
            <a:off x="1920240" y="2148840"/>
            <a:ext cx="36726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0"/>
          <p:cNvSpPr/>
          <p:nvPr/>
        </p:nvSpPr>
        <p:spPr>
          <a:xfrm>
            <a:off x="1920240" y="2606040"/>
            <a:ext cx="36726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Authentification · autorisation · validation des entrées · protection API · sessions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0"/>
          <p:cNvSpPr/>
          <p:nvPr/>
        </p:nvSpPr>
        <p:spPr>
          <a:xfrm>
            <a:off x="6324448" y="1783080"/>
            <a:ext cx="5318608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0"/>
          <p:cNvSpPr/>
          <p:nvPr/>
        </p:nvSpPr>
        <p:spPr>
          <a:xfrm>
            <a:off x="6644488" y="2103120"/>
            <a:ext cx="822960" cy="822960"/>
          </a:xfrm>
          <a:prstGeom prst="ellipse">
            <a:avLst/>
          </a:prstGeom>
          <a:solidFill>
            <a:srgbClr val="3B3F7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4" name="Google Shape;6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457" y="23170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20"/>
          <p:cNvSpPr/>
          <p:nvPr/>
        </p:nvSpPr>
        <p:spPr>
          <a:xfrm>
            <a:off x="7696048" y="2148840"/>
            <a:ext cx="36726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0"/>
          <p:cNvSpPr/>
          <p:nvPr/>
        </p:nvSpPr>
        <p:spPr>
          <a:xfrm>
            <a:off x="7696048" y="2606040"/>
            <a:ext cx="36726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Réseau · firewall · secrets · chiffrement · sauvegardes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0"/>
          <p:cNvSpPr/>
          <p:nvPr/>
        </p:nvSpPr>
        <p:spPr>
          <a:xfrm>
            <a:off x="548640" y="3840480"/>
            <a:ext cx="5318608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0"/>
          <p:cNvSpPr/>
          <p:nvPr/>
        </p:nvSpPr>
        <p:spPr>
          <a:xfrm>
            <a:off x="868680" y="4160520"/>
            <a:ext cx="822960" cy="822960"/>
          </a:xfrm>
          <a:prstGeom prst="ellipse">
            <a:avLst/>
          </a:prstGeom>
          <a:solidFill>
            <a:srgbClr val="3B3F7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9" name="Google Shape;6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650" y="43744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20"/>
          <p:cNvSpPr/>
          <p:nvPr/>
        </p:nvSpPr>
        <p:spPr>
          <a:xfrm>
            <a:off x="1920240" y="4206240"/>
            <a:ext cx="36726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0"/>
          <p:cNvSpPr/>
          <p:nvPr/>
        </p:nvSpPr>
        <p:spPr>
          <a:xfrm>
            <a:off x="1920240" y="4663440"/>
            <a:ext cx="36726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Chiffrement · sauvegardes · contrôle des accès · rétention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0"/>
          <p:cNvSpPr/>
          <p:nvPr/>
        </p:nvSpPr>
        <p:spPr>
          <a:xfrm>
            <a:off x="6324448" y="3840480"/>
            <a:ext cx="5318608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0"/>
          <p:cNvSpPr/>
          <p:nvPr/>
        </p:nvSpPr>
        <p:spPr>
          <a:xfrm>
            <a:off x="6644488" y="4160520"/>
            <a:ext cx="822960" cy="822960"/>
          </a:xfrm>
          <a:prstGeom prst="ellipse">
            <a:avLst/>
          </a:prstGeom>
          <a:solidFill>
            <a:srgbClr val="3B3F7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4" name="Google Shape;7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457" y="43744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20"/>
          <p:cNvSpPr/>
          <p:nvPr/>
        </p:nvSpPr>
        <p:spPr>
          <a:xfrm>
            <a:off x="7696048" y="4206240"/>
            <a:ext cx="36726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Développement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0"/>
          <p:cNvSpPr/>
          <p:nvPr/>
        </p:nvSpPr>
        <p:spPr>
          <a:xfrm>
            <a:off x="7696048" y="4663440"/>
            <a:ext cx="36726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Dependency scanning · code review · security testing · gestion des vulnérabilités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0"/>
          <p:cNvSpPr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534B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534B0"/>
                </a:solidFill>
                <a:latin typeface="Calibri"/>
                <a:ea typeface="Calibri"/>
                <a:cs typeface="Calibri"/>
                <a:sym typeface="Calibri"/>
              </a:rPr>
              <a:t>OWASP · RGPD · bonnes pratiques cloud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1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MAINTENABILITÉ &amp; RÉVERSIBILITÉ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1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Le client reste propriétaire de son produit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1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1"/>
          <p:cNvSpPr/>
          <p:nvPr/>
        </p:nvSpPr>
        <p:spPr>
          <a:xfrm>
            <a:off x="548640" y="1828800"/>
            <a:ext cx="2255520" cy="86868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1"/>
          <p:cNvSpPr/>
          <p:nvPr/>
        </p:nvSpPr>
        <p:spPr>
          <a:xfrm>
            <a:off x="685800" y="2029968"/>
            <a:ext cx="457200" cy="45720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1" name="Google Shape;7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21488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21"/>
          <p:cNvSpPr/>
          <p:nvPr/>
        </p:nvSpPr>
        <p:spPr>
          <a:xfrm>
            <a:off x="1234440" y="1828800"/>
            <a:ext cx="152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Code source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1"/>
          <p:cNvSpPr/>
          <p:nvPr/>
        </p:nvSpPr>
        <p:spPr>
          <a:xfrm>
            <a:off x="3078480" y="1828800"/>
            <a:ext cx="2255520" cy="86868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1"/>
          <p:cNvSpPr/>
          <p:nvPr/>
        </p:nvSpPr>
        <p:spPr>
          <a:xfrm>
            <a:off x="3215640" y="2029968"/>
            <a:ext cx="457200" cy="45720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5" name="Google Shape;7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4512" y="21488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21"/>
          <p:cNvSpPr/>
          <p:nvPr/>
        </p:nvSpPr>
        <p:spPr>
          <a:xfrm>
            <a:off x="3764280" y="1828800"/>
            <a:ext cx="152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Repository Git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1"/>
          <p:cNvSpPr/>
          <p:nvPr/>
        </p:nvSpPr>
        <p:spPr>
          <a:xfrm>
            <a:off x="5608320" y="1828800"/>
            <a:ext cx="2255520" cy="86868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1"/>
          <p:cNvSpPr/>
          <p:nvPr/>
        </p:nvSpPr>
        <p:spPr>
          <a:xfrm>
            <a:off x="5745480" y="2029968"/>
            <a:ext cx="457200" cy="45720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9" name="Google Shape;72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4352" y="21488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/>
          <p:nvPr/>
        </p:nvSpPr>
        <p:spPr>
          <a:xfrm>
            <a:off x="6294120" y="1828800"/>
            <a:ext cx="152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1"/>
          <p:cNvSpPr/>
          <p:nvPr/>
        </p:nvSpPr>
        <p:spPr>
          <a:xfrm>
            <a:off x="548640" y="2926080"/>
            <a:ext cx="2255520" cy="86868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1"/>
          <p:cNvSpPr/>
          <p:nvPr/>
        </p:nvSpPr>
        <p:spPr>
          <a:xfrm>
            <a:off x="685800" y="3127248"/>
            <a:ext cx="457200" cy="45720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3" name="Google Shape;73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" y="32461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21"/>
          <p:cNvSpPr/>
          <p:nvPr/>
        </p:nvSpPr>
        <p:spPr>
          <a:xfrm>
            <a:off x="1234440" y="2926080"/>
            <a:ext cx="152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Archi documentée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1"/>
          <p:cNvSpPr/>
          <p:nvPr/>
        </p:nvSpPr>
        <p:spPr>
          <a:xfrm>
            <a:off x="3078480" y="2926080"/>
            <a:ext cx="2255520" cy="86868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1"/>
          <p:cNvSpPr/>
          <p:nvPr/>
        </p:nvSpPr>
        <p:spPr>
          <a:xfrm>
            <a:off x="3215640" y="3127248"/>
            <a:ext cx="457200" cy="45720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7" name="Google Shape;73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4512" y="32461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21"/>
          <p:cNvSpPr/>
          <p:nvPr/>
        </p:nvSpPr>
        <p:spPr>
          <a:xfrm>
            <a:off x="3764280" y="2926080"/>
            <a:ext cx="152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Infra documentée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1"/>
          <p:cNvSpPr/>
          <p:nvPr/>
        </p:nvSpPr>
        <p:spPr>
          <a:xfrm>
            <a:off x="5608320" y="2926080"/>
            <a:ext cx="2255520" cy="86868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1"/>
          <p:cNvSpPr/>
          <p:nvPr/>
        </p:nvSpPr>
        <p:spPr>
          <a:xfrm>
            <a:off x="5745480" y="3127248"/>
            <a:ext cx="457200" cy="45720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1" name="Google Shape;74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4352" y="32461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21"/>
          <p:cNvSpPr/>
          <p:nvPr/>
        </p:nvSpPr>
        <p:spPr>
          <a:xfrm>
            <a:off x="6294120" y="2926080"/>
            <a:ext cx="152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1"/>
          <p:cNvSpPr/>
          <p:nvPr/>
        </p:nvSpPr>
        <p:spPr>
          <a:xfrm>
            <a:off x="548640" y="4023360"/>
            <a:ext cx="2255520" cy="86868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1"/>
          <p:cNvSpPr/>
          <p:nvPr/>
        </p:nvSpPr>
        <p:spPr>
          <a:xfrm>
            <a:off x="685800" y="4224528"/>
            <a:ext cx="457200" cy="45720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5" name="Google Shape;74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4672" y="43434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21"/>
          <p:cNvSpPr/>
          <p:nvPr/>
        </p:nvSpPr>
        <p:spPr>
          <a:xfrm>
            <a:off x="1234440" y="4023360"/>
            <a:ext cx="152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Déploiement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1"/>
          <p:cNvSpPr/>
          <p:nvPr/>
        </p:nvSpPr>
        <p:spPr>
          <a:xfrm>
            <a:off x="3078480" y="4023360"/>
            <a:ext cx="2255520" cy="86868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1"/>
          <p:cNvSpPr/>
          <p:nvPr/>
        </p:nvSpPr>
        <p:spPr>
          <a:xfrm>
            <a:off x="3215640" y="4224528"/>
            <a:ext cx="457200" cy="45720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9" name="Google Shape;74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34512" y="43434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21"/>
          <p:cNvSpPr/>
          <p:nvPr/>
        </p:nvSpPr>
        <p:spPr>
          <a:xfrm>
            <a:off x="3764280" y="4023360"/>
            <a:ext cx="152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Tests &amp; CI/CD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1"/>
          <p:cNvSpPr/>
          <p:nvPr/>
        </p:nvSpPr>
        <p:spPr>
          <a:xfrm>
            <a:off x="5608320" y="4023360"/>
            <a:ext cx="2255520" cy="86868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1"/>
          <p:cNvSpPr/>
          <p:nvPr/>
        </p:nvSpPr>
        <p:spPr>
          <a:xfrm>
            <a:off x="5745480" y="4224528"/>
            <a:ext cx="457200" cy="45720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3" name="Google Shape;75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64352" y="43434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21"/>
          <p:cNvSpPr/>
          <p:nvPr/>
        </p:nvSpPr>
        <p:spPr>
          <a:xfrm>
            <a:off x="6294120" y="4023360"/>
            <a:ext cx="152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Secrets maîtrisés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1"/>
          <p:cNvSpPr/>
          <p:nvPr/>
        </p:nvSpPr>
        <p:spPr>
          <a:xfrm>
            <a:off x="8229600" y="1828800"/>
            <a:ext cx="3413455" cy="3657600"/>
          </a:xfrm>
          <a:prstGeom prst="roundRect">
            <a:avLst>
              <a:gd fmla="val 2411" name="adj"/>
            </a:avLst>
          </a:prstGeom>
          <a:solidFill>
            <a:srgbClr val="3B3F7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1"/>
          <p:cNvSpPr/>
          <p:nvPr/>
        </p:nvSpPr>
        <p:spPr>
          <a:xfrm>
            <a:off x="8549640" y="2057400"/>
            <a:ext cx="27733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Sans vendor lock-in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1"/>
          <p:cNvSpPr/>
          <p:nvPr/>
        </p:nvSpPr>
        <p:spPr>
          <a:xfrm>
            <a:off x="8549640" y="2697480"/>
            <a:ext cx="2773375" cy="548640"/>
          </a:xfrm>
          <a:prstGeom prst="roundRect">
            <a:avLst>
              <a:gd fmla="val 13333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1"/>
          <p:cNvSpPr/>
          <p:nvPr/>
        </p:nvSpPr>
        <p:spPr>
          <a:xfrm>
            <a:off x="8549640" y="2697480"/>
            <a:ext cx="277337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1"/>
          <p:cNvSpPr/>
          <p:nvPr/>
        </p:nvSpPr>
        <p:spPr>
          <a:xfrm>
            <a:off x="9753448" y="32278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1"/>
          <p:cNvSpPr/>
          <p:nvPr/>
        </p:nvSpPr>
        <p:spPr>
          <a:xfrm>
            <a:off x="8549640" y="3410712"/>
            <a:ext cx="2773375" cy="548640"/>
          </a:xfrm>
          <a:prstGeom prst="roundRect">
            <a:avLst>
              <a:gd fmla="val 13333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1"/>
          <p:cNvSpPr/>
          <p:nvPr/>
        </p:nvSpPr>
        <p:spPr>
          <a:xfrm>
            <a:off x="8549640" y="3410712"/>
            <a:ext cx="277337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1"/>
          <p:cNvSpPr/>
          <p:nvPr/>
        </p:nvSpPr>
        <p:spPr>
          <a:xfrm>
            <a:off x="9753448" y="3941064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1"/>
          <p:cNvSpPr/>
          <p:nvPr/>
        </p:nvSpPr>
        <p:spPr>
          <a:xfrm>
            <a:off x="8549640" y="4123944"/>
            <a:ext cx="2773375" cy="548640"/>
          </a:xfrm>
          <a:prstGeom prst="roundRect">
            <a:avLst>
              <a:gd fmla="val 13333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1"/>
          <p:cNvSpPr/>
          <p:nvPr/>
        </p:nvSpPr>
        <p:spPr>
          <a:xfrm>
            <a:off x="8549640" y="4123944"/>
            <a:ext cx="277337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1"/>
          <p:cNvSpPr/>
          <p:nvPr/>
        </p:nvSpPr>
        <p:spPr>
          <a:xfrm>
            <a:off x="9753448" y="4654296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1"/>
          <p:cNvSpPr/>
          <p:nvPr/>
        </p:nvSpPr>
        <p:spPr>
          <a:xfrm>
            <a:off x="8549640" y="4837176"/>
            <a:ext cx="2773375" cy="548640"/>
          </a:xfrm>
          <a:prstGeom prst="roundRect">
            <a:avLst>
              <a:gd fmla="val 13333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1"/>
          <p:cNvSpPr/>
          <p:nvPr/>
        </p:nvSpPr>
        <p:spPr>
          <a:xfrm>
            <a:off x="8549640" y="4837176"/>
            <a:ext cx="277337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1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SEO · PERFORMANCE ·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2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Pour les sites web et e-commerce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2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F3F2FB"/>
          </a:solidFill>
          <a:ln cap="flat" cmpd="sng" w="12700">
            <a:solidFill>
              <a:srgbClr val="BCB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534B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534B0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2"/>
          <p:cNvSpPr/>
          <p:nvPr/>
        </p:nvSpPr>
        <p:spPr>
          <a:xfrm>
            <a:off x="548640" y="1783080"/>
            <a:ext cx="3393338" cy="3931920"/>
          </a:xfrm>
          <a:prstGeom prst="roundRect">
            <a:avLst>
              <a:gd fmla="val 242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2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1" name="Google Shape;7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762" y="225948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22"/>
          <p:cNvSpPr/>
          <p:nvPr/>
        </p:nvSpPr>
        <p:spPr>
          <a:xfrm>
            <a:off x="1828800" y="2103120"/>
            <a:ext cx="193029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SEO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2"/>
          <p:cNvSpPr/>
          <p:nvPr/>
        </p:nvSpPr>
        <p:spPr>
          <a:xfrm>
            <a:off x="868680" y="3063240"/>
            <a:ext cx="2753258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Architecture technique SEO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URLs &amp; metadata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Sitemap · robots.txt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Données structurées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Indexabilité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2"/>
          <p:cNvSpPr/>
          <p:nvPr/>
        </p:nvSpPr>
        <p:spPr>
          <a:xfrm>
            <a:off x="4399178" y="1783080"/>
            <a:ext cx="3393338" cy="3931920"/>
          </a:xfrm>
          <a:prstGeom prst="roundRect">
            <a:avLst>
              <a:gd fmla="val 242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2"/>
          <p:cNvSpPr/>
          <p:nvPr/>
        </p:nvSpPr>
        <p:spPr>
          <a:xfrm>
            <a:off x="4719218" y="2057400"/>
            <a:ext cx="777240" cy="77724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6" name="Google Shape;78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1301" y="225948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22"/>
          <p:cNvSpPr/>
          <p:nvPr/>
        </p:nvSpPr>
        <p:spPr>
          <a:xfrm>
            <a:off x="5679338" y="2103120"/>
            <a:ext cx="193029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2"/>
          <p:cNvSpPr/>
          <p:nvPr/>
        </p:nvSpPr>
        <p:spPr>
          <a:xfrm>
            <a:off x="4719218" y="3063240"/>
            <a:ext cx="2753258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Core Web Vitals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Optimisation images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Caching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CDN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Lazy loading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2"/>
          <p:cNvSpPr/>
          <p:nvPr/>
        </p:nvSpPr>
        <p:spPr>
          <a:xfrm>
            <a:off x="8249717" y="1783080"/>
            <a:ext cx="3393338" cy="3931920"/>
          </a:xfrm>
          <a:prstGeom prst="roundRect">
            <a:avLst>
              <a:gd fmla="val 2425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2"/>
          <p:cNvSpPr/>
          <p:nvPr/>
        </p:nvSpPr>
        <p:spPr>
          <a:xfrm>
            <a:off x="8569757" y="2057400"/>
            <a:ext cx="777240" cy="77724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1" name="Google Shape;79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1839" y="225948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22"/>
          <p:cNvSpPr/>
          <p:nvPr/>
        </p:nvSpPr>
        <p:spPr>
          <a:xfrm>
            <a:off x="9529877" y="2103120"/>
            <a:ext cx="193029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2"/>
          <p:cNvSpPr/>
          <p:nvPr/>
        </p:nvSpPr>
        <p:spPr>
          <a:xfrm>
            <a:off x="8569757" y="3063240"/>
            <a:ext cx="2753258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Conversions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Funnel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2323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33A"/>
                </a:solidFill>
                <a:latin typeface="Calibri"/>
                <a:ea typeface="Calibri"/>
                <a:cs typeface="Calibri"/>
                <a:sym typeface="Calibri"/>
              </a:rPr>
              <a:t>KPIs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2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MÉTHODOLOGIE &amp; GOUVERNANCE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3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Pragmatique, avec des responsabilités claires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3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3"/>
          <p:cNvSpPr/>
          <p:nvPr/>
        </p:nvSpPr>
        <p:spPr>
          <a:xfrm>
            <a:off x="548640" y="1737360"/>
            <a:ext cx="1600200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3"/>
          <p:cNvSpPr/>
          <p:nvPr/>
        </p:nvSpPr>
        <p:spPr>
          <a:xfrm>
            <a:off x="548640" y="173736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3"/>
          <p:cNvSpPr/>
          <p:nvPr/>
        </p:nvSpPr>
        <p:spPr>
          <a:xfrm>
            <a:off x="2103120" y="1938528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3"/>
          <p:cNvSpPr/>
          <p:nvPr/>
        </p:nvSpPr>
        <p:spPr>
          <a:xfrm>
            <a:off x="2423160" y="1737360"/>
            <a:ext cx="1600200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3"/>
          <p:cNvSpPr/>
          <p:nvPr/>
        </p:nvSpPr>
        <p:spPr>
          <a:xfrm>
            <a:off x="2423160" y="173736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Measure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3"/>
          <p:cNvSpPr/>
          <p:nvPr/>
        </p:nvSpPr>
        <p:spPr>
          <a:xfrm>
            <a:off x="3977640" y="1938528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3"/>
          <p:cNvSpPr/>
          <p:nvPr/>
        </p:nvSpPr>
        <p:spPr>
          <a:xfrm>
            <a:off x="4297680" y="1737360"/>
            <a:ext cx="1600200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3"/>
          <p:cNvSpPr/>
          <p:nvPr/>
        </p:nvSpPr>
        <p:spPr>
          <a:xfrm>
            <a:off x="4297680" y="173736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3"/>
          <p:cNvSpPr/>
          <p:nvPr/>
        </p:nvSpPr>
        <p:spPr>
          <a:xfrm>
            <a:off x="5852160" y="1938528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3"/>
          <p:cNvSpPr/>
          <p:nvPr/>
        </p:nvSpPr>
        <p:spPr>
          <a:xfrm>
            <a:off x="6172200" y="1737360"/>
            <a:ext cx="1600200" cy="868680"/>
          </a:xfrm>
          <a:prstGeom prst="roundRect">
            <a:avLst>
              <a:gd fmla="val 9474" name="adj"/>
            </a:avLst>
          </a:prstGeom>
          <a:solidFill>
            <a:srgbClr val="F3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3"/>
          <p:cNvSpPr/>
          <p:nvPr/>
        </p:nvSpPr>
        <p:spPr>
          <a:xfrm>
            <a:off x="6172200" y="173736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Improve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3"/>
          <p:cNvSpPr/>
          <p:nvPr/>
        </p:nvSpPr>
        <p:spPr>
          <a:xfrm>
            <a:off x="8138160" y="1737360"/>
            <a:ext cx="35048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34B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534B0"/>
                </a:solidFill>
                <a:latin typeface="Calibri"/>
                <a:ea typeface="Calibri"/>
                <a:cs typeface="Calibri"/>
                <a:sym typeface="Calibri"/>
              </a:rPr>
              <a:t>Discovery → Conception → MVP → Tests → Mise en production → 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7" name="Google Shape;817;p23"/>
          <p:cNvGraphicFramePr/>
          <p:nvPr/>
        </p:nvGraphicFramePr>
        <p:xfrm>
          <a:off x="548640" y="2880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{F4AD1BB7-DDE5-4523-9CB1-A5AD134CD99F}</a:tableStyleId>
              </a:tblPr>
              <a:tblGrid>
                <a:gridCol w="2743200"/>
                <a:gridCol w="1673350"/>
                <a:gridCol w="1673350"/>
                <a:gridCol w="1673350"/>
                <a:gridCol w="1673350"/>
                <a:gridCol w="16733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Sujet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Priorisation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Développement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742DE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742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</a:tr>
            </a:tbl>
          </a:graphicData>
        </a:graphic>
      </p:graphicFrame>
      <p:sp>
        <p:nvSpPr>
          <p:cNvPr id="818" name="Google Shape;818;p23"/>
          <p:cNvSpPr/>
          <p:nvPr/>
        </p:nvSpPr>
        <p:spPr>
          <a:xfrm>
            <a:off x="548640" y="614476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Comité projet · comité de pilotage · rituels · reporting · gestion des risques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4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ÉQUIPE PROJET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4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Des rôles clairs, une responsabilité humaine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4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4"/>
          <p:cNvSpPr/>
          <p:nvPr/>
        </p:nvSpPr>
        <p:spPr>
          <a:xfrm>
            <a:off x="548640" y="1828800"/>
            <a:ext cx="2567864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4"/>
          <p:cNvSpPr/>
          <p:nvPr/>
        </p:nvSpPr>
        <p:spPr>
          <a:xfrm>
            <a:off x="1421092" y="210312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2" name="Google Shape;8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5062" y="23170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24"/>
          <p:cNvSpPr/>
          <p:nvPr/>
        </p:nvSpPr>
        <p:spPr>
          <a:xfrm>
            <a:off x="685800" y="2971800"/>
            <a:ext cx="22935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Product / Project Manager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4"/>
          <p:cNvSpPr/>
          <p:nvPr/>
        </p:nvSpPr>
        <p:spPr>
          <a:xfrm>
            <a:off x="3390824" y="1828800"/>
            <a:ext cx="2567864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4"/>
          <p:cNvSpPr/>
          <p:nvPr/>
        </p:nvSpPr>
        <p:spPr>
          <a:xfrm>
            <a:off x="4263276" y="210312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6" name="Google Shape;83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7245" y="23170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24"/>
          <p:cNvSpPr/>
          <p:nvPr/>
        </p:nvSpPr>
        <p:spPr>
          <a:xfrm>
            <a:off x="3527984" y="2971800"/>
            <a:ext cx="22935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UX / UI Designer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4"/>
          <p:cNvSpPr/>
          <p:nvPr/>
        </p:nvSpPr>
        <p:spPr>
          <a:xfrm>
            <a:off x="6233008" y="1828800"/>
            <a:ext cx="2567864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4"/>
          <p:cNvSpPr/>
          <p:nvPr/>
        </p:nvSpPr>
        <p:spPr>
          <a:xfrm>
            <a:off x="7105460" y="210312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0" name="Google Shape;84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9429" y="23170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24"/>
          <p:cNvSpPr/>
          <p:nvPr/>
        </p:nvSpPr>
        <p:spPr>
          <a:xfrm>
            <a:off x="6370168" y="2971800"/>
            <a:ext cx="22935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Tech Lead / Architecte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4"/>
          <p:cNvSpPr/>
          <p:nvPr/>
        </p:nvSpPr>
        <p:spPr>
          <a:xfrm>
            <a:off x="9075191" y="1828800"/>
            <a:ext cx="2567864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4"/>
          <p:cNvSpPr/>
          <p:nvPr/>
        </p:nvSpPr>
        <p:spPr>
          <a:xfrm>
            <a:off x="9947643" y="210312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4" name="Google Shape;84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1613" y="23170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24"/>
          <p:cNvSpPr/>
          <p:nvPr/>
        </p:nvSpPr>
        <p:spPr>
          <a:xfrm>
            <a:off x="9212351" y="2971800"/>
            <a:ext cx="22935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Développeurs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4"/>
          <p:cNvSpPr/>
          <p:nvPr/>
        </p:nvSpPr>
        <p:spPr>
          <a:xfrm>
            <a:off x="548640" y="3886200"/>
            <a:ext cx="2567864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4"/>
          <p:cNvSpPr/>
          <p:nvPr/>
        </p:nvSpPr>
        <p:spPr>
          <a:xfrm>
            <a:off x="1421092" y="416052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8" name="Google Shape;84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35062" y="43744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24"/>
          <p:cNvSpPr/>
          <p:nvPr/>
        </p:nvSpPr>
        <p:spPr>
          <a:xfrm>
            <a:off x="685800" y="5029200"/>
            <a:ext cx="22935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QA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4"/>
          <p:cNvSpPr/>
          <p:nvPr/>
        </p:nvSpPr>
        <p:spPr>
          <a:xfrm>
            <a:off x="3390824" y="3886200"/>
            <a:ext cx="2567864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4"/>
          <p:cNvSpPr/>
          <p:nvPr/>
        </p:nvSpPr>
        <p:spPr>
          <a:xfrm>
            <a:off x="4263276" y="416052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2" name="Google Shape;85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7245" y="43744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24"/>
          <p:cNvSpPr/>
          <p:nvPr/>
        </p:nvSpPr>
        <p:spPr>
          <a:xfrm>
            <a:off x="3527984" y="5029200"/>
            <a:ext cx="22935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DevOps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4"/>
          <p:cNvSpPr/>
          <p:nvPr/>
        </p:nvSpPr>
        <p:spPr>
          <a:xfrm>
            <a:off x="6233008" y="3886200"/>
            <a:ext cx="2567864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4"/>
          <p:cNvSpPr/>
          <p:nvPr/>
        </p:nvSpPr>
        <p:spPr>
          <a:xfrm>
            <a:off x="7105460" y="416052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6" name="Google Shape;85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19429" y="43744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24"/>
          <p:cNvSpPr/>
          <p:nvPr/>
        </p:nvSpPr>
        <p:spPr>
          <a:xfrm>
            <a:off x="6370168" y="5029200"/>
            <a:ext cx="22935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AI Engineer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4"/>
          <p:cNvSpPr/>
          <p:nvPr/>
        </p:nvSpPr>
        <p:spPr>
          <a:xfrm>
            <a:off x="9075191" y="3886200"/>
            <a:ext cx="2567864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4"/>
          <p:cNvSpPr/>
          <p:nvPr/>
        </p:nvSpPr>
        <p:spPr>
          <a:xfrm>
            <a:off x="9947643" y="4160520"/>
            <a:ext cx="822960" cy="82296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0" name="Google Shape;860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61613" y="43744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24"/>
          <p:cNvSpPr/>
          <p:nvPr/>
        </p:nvSpPr>
        <p:spPr>
          <a:xfrm>
            <a:off x="9212351" y="5029200"/>
            <a:ext cx="22935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Sécurité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5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5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Une trajectoire jalonnée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5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3" name="Google Shape;873;p25"/>
          <p:cNvCxnSpPr/>
          <p:nvPr/>
        </p:nvCxnSpPr>
        <p:spPr>
          <a:xfrm>
            <a:off x="731520" y="2468880"/>
            <a:ext cx="10728655" cy="0"/>
          </a:xfrm>
          <a:prstGeom prst="straightConnector1">
            <a:avLst/>
          </a:prstGeom>
          <a:noFill/>
          <a:ln cap="flat" cmpd="sng" w="25400">
            <a:solidFill>
              <a:srgbClr val="BCBA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4" name="Google Shape;874;p25"/>
          <p:cNvSpPr/>
          <p:nvPr/>
        </p:nvSpPr>
        <p:spPr>
          <a:xfrm>
            <a:off x="1287247" y="2359152"/>
            <a:ext cx="219456" cy="219456"/>
          </a:xfrm>
          <a:prstGeom prst="ellipse">
            <a:avLst/>
          </a:prstGeom>
          <a:solidFill>
            <a:srgbClr val="5742D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5"/>
          <p:cNvSpPr/>
          <p:nvPr/>
        </p:nvSpPr>
        <p:spPr>
          <a:xfrm>
            <a:off x="548640" y="2834640"/>
            <a:ext cx="1696669" cy="155448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5"/>
          <p:cNvSpPr/>
          <p:nvPr/>
        </p:nvSpPr>
        <p:spPr>
          <a:xfrm>
            <a:off x="640080" y="2971800"/>
            <a:ext cx="15137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[S1-S2]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5"/>
          <p:cNvSpPr/>
          <p:nvPr/>
        </p:nvSpPr>
        <p:spPr>
          <a:xfrm>
            <a:off x="640080" y="3337560"/>
            <a:ext cx="151378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Cadrage &amp; UX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5"/>
          <p:cNvSpPr/>
          <p:nvPr/>
        </p:nvSpPr>
        <p:spPr>
          <a:xfrm>
            <a:off x="3166796" y="2359152"/>
            <a:ext cx="219456" cy="219456"/>
          </a:xfrm>
          <a:prstGeom prst="ellipse">
            <a:avLst/>
          </a:prstGeom>
          <a:solidFill>
            <a:srgbClr val="5742D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5"/>
          <p:cNvSpPr/>
          <p:nvPr/>
        </p:nvSpPr>
        <p:spPr>
          <a:xfrm>
            <a:off x="2428189" y="2834640"/>
            <a:ext cx="1696669" cy="155448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5"/>
          <p:cNvSpPr/>
          <p:nvPr/>
        </p:nvSpPr>
        <p:spPr>
          <a:xfrm>
            <a:off x="2519629" y="2971800"/>
            <a:ext cx="15137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[S2-S3]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5"/>
          <p:cNvSpPr/>
          <p:nvPr/>
        </p:nvSpPr>
        <p:spPr>
          <a:xfrm>
            <a:off x="2519629" y="3337560"/>
            <a:ext cx="151378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5"/>
          <p:cNvSpPr/>
          <p:nvPr/>
        </p:nvSpPr>
        <p:spPr>
          <a:xfrm>
            <a:off x="5046345" y="2359152"/>
            <a:ext cx="219456" cy="219456"/>
          </a:xfrm>
          <a:prstGeom prst="ellipse">
            <a:avLst/>
          </a:prstGeom>
          <a:solidFill>
            <a:srgbClr val="5742D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5"/>
          <p:cNvSpPr/>
          <p:nvPr/>
        </p:nvSpPr>
        <p:spPr>
          <a:xfrm>
            <a:off x="4307738" y="2834640"/>
            <a:ext cx="1696669" cy="155448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5"/>
          <p:cNvSpPr/>
          <p:nvPr/>
        </p:nvSpPr>
        <p:spPr>
          <a:xfrm>
            <a:off x="4399178" y="2971800"/>
            <a:ext cx="15137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[S3-S8]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5"/>
          <p:cNvSpPr/>
          <p:nvPr/>
        </p:nvSpPr>
        <p:spPr>
          <a:xfrm>
            <a:off x="4399178" y="3337560"/>
            <a:ext cx="151378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Développement MVP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5"/>
          <p:cNvSpPr/>
          <p:nvPr/>
        </p:nvSpPr>
        <p:spPr>
          <a:xfrm>
            <a:off x="6925894" y="2359152"/>
            <a:ext cx="219456" cy="219456"/>
          </a:xfrm>
          <a:prstGeom prst="ellipse">
            <a:avLst/>
          </a:prstGeom>
          <a:solidFill>
            <a:srgbClr val="5742D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5"/>
          <p:cNvSpPr/>
          <p:nvPr/>
        </p:nvSpPr>
        <p:spPr>
          <a:xfrm>
            <a:off x="6187288" y="2834640"/>
            <a:ext cx="1696669" cy="155448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5"/>
          <p:cNvSpPr/>
          <p:nvPr/>
        </p:nvSpPr>
        <p:spPr>
          <a:xfrm>
            <a:off x="6278728" y="2971800"/>
            <a:ext cx="15137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[S8-S9]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5"/>
          <p:cNvSpPr/>
          <p:nvPr/>
        </p:nvSpPr>
        <p:spPr>
          <a:xfrm>
            <a:off x="6278728" y="3337560"/>
            <a:ext cx="151378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Tests &amp; recette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5"/>
          <p:cNvSpPr/>
          <p:nvPr/>
        </p:nvSpPr>
        <p:spPr>
          <a:xfrm>
            <a:off x="8805443" y="2359152"/>
            <a:ext cx="219456" cy="219456"/>
          </a:xfrm>
          <a:prstGeom prst="ellipse">
            <a:avLst/>
          </a:prstGeom>
          <a:solidFill>
            <a:srgbClr val="5742D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5"/>
          <p:cNvSpPr/>
          <p:nvPr/>
        </p:nvSpPr>
        <p:spPr>
          <a:xfrm>
            <a:off x="8066837" y="2834640"/>
            <a:ext cx="1696669" cy="155448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5"/>
          <p:cNvSpPr/>
          <p:nvPr/>
        </p:nvSpPr>
        <p:spPr>
          <a:xfrm>
            <a:off x="8158277" y="2971800"/>
            <a:ext cx="15137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[S9-S10]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5"/>
          <p:cNvSpPr/>
          <p:nvPr/>
        </p:nvSpPr>
        <p:spPr>
          <a:xfrm>
            <a:off x="8158277" y="3337560"/>
            <a:ext cx="151378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UAT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5"/>
          <p:cNvSpPr/>
          <p:nvPr/>
        </p:nvSpPr>
        <p:spPr>
          <a:xfrm>
            <a:off x="10684993" y="2359152"/>
            <a:ext cx="219456" cy="219456"/>
          </a:xfrm>
          <a:prstGeom prst="ellipse">
            <a:avLst/>
          </a:prstGeom>
          <a:solidFill>
            <a:srgbClr val="5742D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5"/>
          <p:cNvSpPr/>
          <p:nvPr/>
        </p:nvSpPr>
        <p:spPr>
          <a:xfrm>
            <a:off x="9946386" y="2834640"/>
            <a:ext cx="1696669" cy="155448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5"/>
          <p:cNvSpPr/>
          <p:nvPr/>
        </p:nvSpPr>
        <p:spPr>
          <a:xfrm>
            <a:off x="10037826" y="2971800"/>
            <a:ext cx="15137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[S10]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5"/>
          <p:cNvSpPr/>
          <p:nvPr/>
        </p:nvSpPr>
        <p:spPr>
          <a:xfrm>
            <a:off x="10037826" y="3337560"/>
            <a:ext cx="151378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5"/>
          <p:cNvSpPr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Jalons · livrables · dépendances client — dates à ajuster par projet.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6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6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Transparent, découpé par lot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6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6"/>
          <p:cNvSpPr/>
          <p:nvPr/>
        </p:nvSpPr>
        <p:spPr>
          <a:xfrm>
            <a:off x="548640" y="1737360"/>
            <a:ext cx="3454298" cy="1417320"/>
          </a:xfrm>
          <a:prstGeom prst="roundRect">
            <a:avLst>
              <a:gd fmla="val 5806" name="adj"/>
            </a:avLst>
          </a:prstGeom>
          <a:solidFill>
            <a:srgbClr val="3B3F7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6"/>
          <p:cNvSpPr/>
          <p:nvPr/>
        </p:nvSpPr>
        <p:spPr>
          <a:xfrm>
            <a:off x="822960" y="1920240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BUDGET MVP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6"/>
          <p:cNvSpPr/>
          <p:nvPr/>
        </p:nvSpPr>
        <p:spPr>
          <a:xfrm>
            <a:off x="822960" y="2240280"/>
            <a:ext cx="290565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[XX k€ HT]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6"/>
          <p:cNvSpPr/>
          <p:nvPr/>
        </p:nvSpPr>
        <p:spPr>
          <a:xfrm>
            <a:off x="4368698" y="1737360"/>
            <a:ext cx="3454298" cy="1417320"/>
          </a:xfrm>
          <a:prstGeom prst="roundRect">
            <a:avLst>
              <a:gd fmla="val 5806" name="adj"/>
            </a:avLst>
          </a:prstGeom>
          <a:solidFill>
            <a:srgbClr val="5742DE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6"/>
          <p:cNvSpPr/>
          <p:nvPr/>
        </p:nvSpPr>
        <p:spPr>
          <a:xfrm>
            <a:off x="4643018" y="1920240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BUDGET POST-MVP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6"/>
          <p:cNvSpPr/>
          <p:nvPr/>
        </p:nvSpPr>
        <p:spPr>
          <a:xfrm>
            <a:off x="4643018" y="2240280"/>
            <a:ext cx="290565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[XX k€ HT]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6"/>
          <p:cNvSpPr/>
          <p:nvPr/>
        </p:nvSpPr>
        <p:spPr>
          <a:xfrm>
            <a:off x="8188757" y="1737360"/>
            <a:ext cx="3454298" cy="1417320"/>
          </a:xfrm>
          <a:prstGeom prst="roundRect">
            <a:avLst>
              <a:gd fmla="val 5806" name="adj"/>
            </a:avLst>
          </a:prstGeom>
          <a:solidFill>
            <a:srgbClr val="4534B0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6"/>
          <p:cNvSpPr/>
          <p:nvPr/>
        </p:nvSpPr>
        <p:spPr>
          <a:xfrm>
            <a:off x="8463077" y="1920240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INFRA RÉCURRENTE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6"/>
          <p:cNvSpPr/>
          <p:nvPr/>
        </p:nvSpPr>
        <p:spPr>
          <a:xfrm>
            <a:off x="8463077" y="2240280"/>
            <a:ext cx="290565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 k€ / mois]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9" name="Google Shape;919;p26"/>
          <p:cNvGraphicFramePr/>
          <p:nvPr/>
        </p:nvGraphicFramePr>
        <p:xfrm>
          <a:off x="548640" y="3337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{F4AD1BB7-DDE5-4523-9CB1-A5AD134CD99F}</a:tableStyleId>
              </a:tblPr>
              <a:tblGrid>
                <a:gridCol w="3200400"/>
                <a:gridCol w="5148075"/>
                <a:gridCol w="27432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Périmètre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Montant HT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Discovery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UX / UI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Développement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DevOps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Mise en production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[…]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0" name="Google Shape;920;p26"/>
          <p:cNvSpPr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Faire apparaître clairement ce qui est inclus et ce qui ne l'est pas.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7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RISQUES &amp; MITIGATION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7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Identifier les problèmes avant qu'ils en deviennent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7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2" name="Google Shape;932;p27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{F4AD1BB7-DDE5-4523-9CB1-A5AD134CD99F}</a:tableStyleId>
              </a:tblPr>
              <a:tblGrid>
                <a:gridCol w="2743200"/>
                <a:gridCol w="2377450"/>
                <a:gridCol w="59710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Risque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Dérive fonctionnelle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Périmètre &amp; délai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MVP cadré, priorisation Must/Should, revues régulières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Dépendances externes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Blocage / coût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Encapsulation via API Métier, fournisseurs alternatifs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Qualité des données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Fiabilité produit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Contrôles à l'ingestion, jeux de test représentatifs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Expérience &amp; scale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Cache, CDN, tests de charge avant MEP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Sécurité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Conformité &amp; image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 by Design, scans, revues de code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Disponibilité client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A8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Planning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Rituels courts, décisions tracées, points hebdo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3" name="Google Shape;933;p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7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8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RUN &amp; ÉVOLUTION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8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Après la mise en production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8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8"/>
          <p:cNvSpPr/>
          <p:nvPr/>
        </p:nvSpPr>
        <p:spPr>
          <a:xfrm>
            <a:off x="548640" y="2011680"/>
            <a:ext cx="1962851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8"/>
          <p:cNvSpPr/>
          <p:nvPr/>
        </p:nvSpPr>
        <p:spPr>
          <a:xfrm>
            <a:off x="1164306" y="2267712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6" name="Google Shape;9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501" y="245790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28"/>
          <p:cNvSpPr/>
          <p:nvPr/>
        </p:nvSpPr>
        <p:spPr>
          <a:xfrm>
            <a:off x="548640" y="3108960"/>
            <a:ext cx="19628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Launch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8"/>
          <p:cNvSpPr/>
          <p:nvPr/>
        </p:nvSpPr>
        <p:spPr>
          <a:xfrm>
            <a:off x="2465771" y="256032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8"/>
          <p:cNvSpPr/>
          <p:nvPr/>
        </p:nvSpPr>
        <p:spPr>
          <a:xfrm>
            <a:off x="2831531" y="2011680"/>
            <a:ext cx="1962851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8"/>
          <p:cNvSpPr/>
          <p:nvPr/>
        </p:nvSpPr>
        <p:spPr>
          <a:xfrm>
            <a:off x="3447197" y="2267712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1" name="Google Shape;95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7392" y="245790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28"/>
          <p:cNvSpPr/>
          <p:nvPr/>
        </p:nvSpPr>
        <p:spPr>
          <a:xfrm>
            <a:off x="2831531" y="3108960"/>
            <a:ext cx="19628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8"/>
          <p:cNvSpPr/>
          <p:nvPr/>
        </p:nvSpPr>
        <p:spPr>
          <a:xfrm>
            <a:off x="4748662" y="256032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8"/>
          <p:cNvSpPr/>
          <p:nvPr/>
        </p:nvSpPr>
        <p:spPr>
          <a:xfrm>
            <a:off x="5114422" y="2011680"/>
            <a:ext cx="1962851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8"/>
          <p:cNvSpPr/>
          <p:nvPr/>
        </p:nvSpPr>
        <p:spPr>
          <a:xfrm>
            <a:off x="5730088" y="2267712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6" name="Google Shape;95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0283" y="245790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28"/>
          <p:cNvSpPr/>
          <p:nvPr/>
        </p:nvSpPr>
        <p:spPr>
          <a:xfrm>
            <a:off x="5114422" y="3108960"/>
            <a:ext cx="19628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8"/>
          <p:cNvSpPr/>
          <p:nvPr/>
        </p:nvSpPr>
        <p:spPr>
          <a:xfrm>
            <a:off x="7031553" y="256032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8"/>
          <p:cNvSpPr/>
          <p:nvPr/>
        </p:nvSpPr>
        <p:spPr>
          <a:xfrm>
            <a:off x="7397313" y="2011680"/>
            <a:ext cx="1962851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8"/>
          <p:cNvSpPr/>
          <p:nvPr/>
        </p:nvSpPr>
        <p:spPr>
          <a:xfrm>
            <a:off x="8012979" y="2267712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1" name="Google Shape;96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03174" y="245790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28"/>
          <p:cNvSpPr/>
          <p:nvPr/>
        </p:nvSpPr>
        <p:spPr>
          <a:xfrm>
            <a:off x="7397313" y="3108960"/>
            <a:ext cx="19628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Improve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8"/>
          <p:cNvSpPr/>
          <p:nvPr/>
        </p:nvSpPr>
        <p:spPr>
          <a:xfrm>
            <a:off x="9314444" y="256032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8"/>
          <p:cNvSpPr/>
          <p:nvPr/>
        </p:nvSpPr>
        <p:spPr>
          <a:xfrm>
            <a:off x="9680204" y="2011680"/>
            <a:ext cx="1962851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8"/>
          <p:cNvSpPr/>
          <p:nvPr/>
        </p:nvSpPr>
        <p:spPr>
          <a:xfrm>
            <a:off x="10295870" y="2267712"/>
            <a:ext cx="731520" cy="731520"/>
          </a:xfrm>
          <a:prstGeom prst="ellipse">
            <a:avLst/>
          </a:prstGeom>
          <a:solidFill>
            <a:srgbClr val="F3F2FB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6" name="Google Shape;96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86065" y="2457907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28"/>
          <p:cNvSpPr/>
          <p:nvPr/>
        </p:nvSpPr>
        <p:spPr>
          <a:xfrm>
            <a:off x="9680204" y="3108960"/>
            <a:ext cx="19628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8"/>
          <p:cNvSpPr/>
          <p:nvPr/>
        </p:nvSpPr>
        <p:spPr>
          <a:xfrm>
            <a:off x="548640" y="4206240"/>
            <a:ext cx="11094415" cy="1463040"/>
          </a:xfrm>
          <a:prstGeom prst="roundRect">
            <a:avLst>
              <a:gd fmla="val 5625" name="adj"/>
            </a:avLst>
          </a:prstGeom>
          <a:solidFill>
            <a:srgbClr val="F3F2F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8"/>
          <p:cNvSpPr/>
          <p:nvPr/>
        </p:nvSpPr>
        <p:spPr>
          <a:xfrm>
            <a:off x="868680" y="4389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TMA — Tierce Maintenance Applicative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8"/>
          <p:cNvSpPr/>
          <p:nvPr/>
        </p:nvSpPr>
        <p:spPr>
          <a:xfrm>
            <a:off x="868680" y="4754880"/>
            <a:ext cx="1045433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Monitoring · maintenance corrective · sécurité · optimisation · nouvelles fonctionnalités · évolutions IA — plusieurs niveaux de support possibles.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9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MAINTENANCE &amp; TMA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9"/>
          <p:cNvSpPr/>
          <p:nvPr/>
        </p:nvSpPr>
        <p:spPr>
          <a:xfrm>
            <a:off x="548640" y="749808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Un budget dédié à la vie du produit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9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9"/>
          <p:cNvSpPr/>
          <p:nvPr/>
        </p:nvSpPr>
        <p:spPr>
          <a:xfrm>
            <a:off x="548640" y="1737360"/>
            <a:ext cx="3454298" cy="1280160"/>
          </a:xfrm>
          <a:prstGeom prst="roundRect">
            <a:avLst>
              <a:gd fmla="val 6429" name="adj"/>
            </a:avLst>
          </a:prstGeom>
          <a:solidFill>
            <a:srgbClr val="3B3F7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9"/>
          <p:cNvSpPr/>
          <p:nvPr/>
        </p:nvSpPr>
        <p:spPr>
          <a:xfrm>
            <a:off x="822960" y="1901952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FORFAIT TMA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9"/>
          <p:cNvSpPr/>
          <p:nvPr/>
        </p:nvSpPr>
        <p:spPr>
          <a:xfrm>
            <a:off x="822960" y="2194560"/>
            <a:ext cx="290565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 j / mois]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9"/>
          <p:cNvSpPr/>
          <p:nvPr/>
        </p:nvSpPr>
        <p:spPr>
          <a:xfrm>
            <a:off x="4368698" y="1737360"/>
            <a:ext cx="3454298" cy="1280160"/>
          </a:xfrm>
          <a:prstGeom prst="roundRect">
            <a:avLst>
              <a:gd fmla="val 6429" name="adj"/>
            </a:avLst>
          </a:prstGeom>
          <a:solidFill>
            <a:srgbClr val="5742DE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9"/>
          <p:cNvSpPr/>
          <p:nvPr/>
        </p:nvSpPr>
        <p:spPr>
          <a:xfrm>
            <a:off x="4643018" y="1901952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BUDGET TMA / MOIS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9"/>
          <p:cNvSpPr/>
          <p:nvPr/>
        </p:nvSpPr>
        <p:spPr>
          <a:xfrm>
            <a:off x="4643018" y="2194560"/>
            <a:ext cx="290565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[XX k€ HT]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9"/>
          <p:cNvSpPr/>
          <p:nvPr/>
        </p:nvSpPr>
        <p:spPr>
          <a:xfrm>
            <a:off x="8188757" y="1737360"/>
            <a:ext cx="3454298" cy="1280160"/>
          </a:xfrm>
          <a:prstGeom prst="roundRect">
            <a:avLst>
              <a:gd fmla="val 6429" name="adj"/>
            </a:avLst>
          </a:prstGeom>
          <a:solidFill>
            <a:srgbClr val="4534B0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9"/>
          <p:cNvSpPr/>
          <p:nvPr/>
        </p:nvSpPr>
        <p:spPr>
          <a:xfrm>
            <a:off x="8463077" y="1901952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BUDGET TMA / 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9"/>
          <p:cNvSpPr/>
          <p:nvPr/>
        </p:nvSpPr>
        <p:spPr>
          <a:xfrm>
            <a:off x="8463077" y="2194560"/>
            <a:ext cx="290565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[XX k€ HT]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1" name="Google Shape;991;p29"/>
          <p:cNvGraphicFramePr/>
          <p:nvPr/>
        </p:nvGraphicFramePr>
        <p:xfrm>
          <a:off x="548640" y="3246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{F4AD1BB7-DDE5-4523-9CB1-A5AD134CD99F}</a:tableStyleId>
              </a:tblPr>
              <a:tblGrid>
                <a:gridCol w="4023350"/>
                <a:gridCol w="1280150"/>
                <a:gridCol w="16459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Poste de maintenance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Charge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Montant /mois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3F7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Maintenance corrective  </a:t>
                      </a:r>
                      <a:r>
                        <a:rPr lang="en-US" sz="10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Correctifs, hotfix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 j]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Maintenance évolutive  </a:t>
                      </a:r>
                      <a:r>
                        <a:rPr lang="en-US" sz="10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Petites évolutions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 j]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Sécurité &amp; mises à jour  </a:t>
                      </a:r>
                      <a:r>
                        <a:rPr lang="en-US" sz="10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Patchs, dépendances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 j]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Supervision &amp; exploitation  </a:t>
                      </a:r>
                      <a:r>
                        <a:rPr lang="en-US" sz="10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Monitoring, alertes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 j]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utilisateur  </a:t>
                      </a:r>
                      <a:r>
                        <a:rPr lang="en-US" sz="10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Niveau défini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 j]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2F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F7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3B3F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Pilotage TMA  </a:t>
                      </a:r>
                      <a:r>
                        <a:rPr lang="en-US" sz="1000" u="none" cap="none" strike="noStrike">
                          <a:solidFill>
                            <a:srgbClr val="6B6A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Suivi, reporting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 j]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/mois HT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42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[— j]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42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[XX k€]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42DE"/>
                    </a:solidFill>
                  </a:tcPr>
                </a:tc>
              </a:tr>
            </a:tbl>
          </a:graphicData>
        </a:graphic>
      </p:graphicFrame>
      <p:sp>
        <p:nvSpPr>
          <p:cNvPr id="992" name="Google Shape;992;p29"/>
          <p:cNvSpPr/>
          <p:nvPr/>
        </p:nvSpPr>
        <p:spPr>
          <a:xfrm>
            <a:off x="548640" y="589788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Infra récurrente (hébergement) chiffrée séparément — cf. cadrage plateforme.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9"/>
          <p:cNvSpPr/>
          <p:nvPr/>
        </p:nvSpPr>
        <p:spPr>
          <a:xfrm>
            <a:off x="7863840" y="3246120"/>
            <a:ext cx="37792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3F7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3F7B"/>
                </a:solidFill>
                <a:latin typeface="Calibri"/>
                <a:ea typeface="Calibri"/>
                <a:cs typeface="Calibri"/>
                <a:sym typeface="Calibri"/>
              </a:rPr>
              <a:t>Niveaux de support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9"/>
          <p:cNvSpPr/>
          <p:nvPr/>
        </p:nvSpPr>
        <p:spPr>
          <a:xfrm>
            <a:off x="7863840" y="3639312"/>
            <a:ext cx="3779215" cy="73152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9"/>
          <p:cNvSpPr/>
          <p:nvPr/>
        </p:nvSpPr>
        <p:spPr>
          <a:xfrm>
            <a:off x="8092440" y="3749040"/>
            <a:ext cx="33220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Essentiel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9"/>
          <p:cNvSpPr/>
          <p:nvPr/>
        </p:nvSpPr>
        <p:spPr>
          <a:xfrm>
            <a:off x="8092440" y="4041648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[Heures ouvrées · best effort]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9"/>
          <p:cNvSpPr/>
          <p:nvPr/>
        </p:nvSpPr>
        <p:spPr>
          <a:xfrm>
            <a:off x="7863840" y="4462272"/>
            <a:ext cx="3779215" cy="731520"/>
          </a:xfrm>
          <a:prstGeom prst="roundRect">
            <a:avLst>
              <a:gd fmla="val 11250" name="adj"/>
            </a:avLst>
          </a:prstGeom>
          <a:solidFill>
            <a:srgbClr val="F3F2FB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9"/>
          <p:cNvSpPr/>
          <p:nvPr/>
        </p:nvSpPr>
        <p:spPr>
          <a:xfrm>
            <a:off x="8092440" y="4572000"/>
            <a:ext cx="33220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Standard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9"/>
          <p:cNvSpPr/>
          <p:nvPr/>
        </p:nvSpPr>
        <p:spPr>
          <a:xfrm>
            <a:off x="8092440" y="4864608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[SLA défini · astreinte limitée]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9"/>
          <p:cNvSpPr/>
          <p:nvPr/>
        </p:nvSpPr>
        <p:spPr>
          <a:xfrm>
            <a:off x="7863840" y="5285232"/>
            <a:ext cx="3779215" cy="73152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E4E3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9"/>
          <p:cNvSpPr/>
          <p:nvPr/>
        </p:nvSpPr>
        <p:spPr>
          <a:xfrm>
            <a:off x="8092440" y="5394960"/>
            <a:ext cx="33220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4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742DE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9"/>
          <p:cNvSpPr/>
          <p:nvPr/>
        </p:nvSpPr>
        <p:spPr>
          <a:xfrm>
            <a:off x="8092440" y="5687568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[SLA renforcé · astreinte étendue]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Confidentiel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3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0"/>
          <p:cNvSpPr/>
          <p:nvPr/>
        </p:nvSpPr>
        <p:spPr>
          <a:xfrm>
            <a:off x="-2011680" y="4023360"/>
            <a:ext cx="5029200" cy="5029200"/>
          </a:xfrm>
          <a:prstGeom prst="ellipse">
            <a:avLst/>
          </a:prstGeom>
          <a:solidFill>
            <a:srgbClr val="4534B0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0"/>
          <p:cNvSpPr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POURQUOI NOUS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0"/>
          <p:cNvSpPr/>
          <p:nvPr/>
        </p:nvSpPr>
        <p:spPr>
          <a:xfrm>
            <a:off x="548640" y="10058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 équipe qui maîtrise le produit, l'IA, la qualité et les risques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0"/>
          <p:cNvSpPr/>
          <p:nvPr/>
        </p:nvSpPr>
        <p:spPr>
          <a:xfrm>
            <a:off x="10408615" y="548640"/>
            <a:ext cx="1234440" cy="310896"/>
          </a:xfrm>
          <a:prstGeom prst="roundRect">
            <a:avLst>
              <a:gd fmla="val 50000" name="adj"/>
            </a:avLst>
          </a:prstGeom>
          <a:solidFill>
            <a:srgbClr val="5742D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0"/>
          <p:cNvSpPr/>
          <p:nvPr/>
        </p:nvSpPr>
        <p:spPr>
          <a:xfrm>
            <a:off x="548640" y="2194560"/>
            <a:ext cx="3246120" cy="749808"/>
          </a:xfrm>
          <a:prstGeom prst="roundRect">
            <a:avLst>
              <a:gd fmla="val 9756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0"/>
          <p:cNvSpPr/>
          <p:nvPr/>
        </p:nvSpPr>
        <p:spPr>
          <a:xfrm>
            <a:off x="676656" y="2340864"/>
            <a:ext cx="457200" cy="457200"/>
          </a:xfrm>
          <a:prstGeom prst="ellipse">
            <a:avLst/>
          </a:prstGeom>
          <a:solidFill>
            <a:srgbClr val="5742DE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7" name="Google Shape;101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245973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30"/>
          <p:cNvSpPr/>
          <p:nvPr/>
        </p:nvSpPr>
        <p:spPr>
          <a:xfrm>
            <a:off x="1234440" y="219456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Approche produit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0"/>
          <p:cNvSpPr/>
          <p:nvPr/>
        </p:nvSpPr>
        <p:spPr>
          <a:xfrm>
            <a:off x="4251960" y="2194560"/>
            <a:ext cx="3246120" cy="749808"/>
          </a:xfrm>
          <a:prstGeom prst="roundRect">
            <a:avLst>
              <a:gd fmla="val 9756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0"/>
          <p:cNvSpPr/>
          <p:nvPr/>
        </p:nvSpPr>
        <p:spPr>
          <a:xfrm>
            <a:off x="4379976" y="2340864"/>
            <a:ext cx="457200" cy="457200"/>
          </a:xfrm>
          <a:prstGeom prst="ellipse">
            <a:avLst/>
          </a:prstGeom>
          <a:solidFill>
            <a:srgbClr val="5742DE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1" name="Google Shape;102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8848" y="245973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30"/>
          <p:cNvSpPr/>
          <p:nvPr/>
        </p:nvSpPr>
        <p:spPr>
          <a:xfrm>
            <a:off x="4937760" y="219456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Expertise technique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0"/>
          <p:cNvSpPr/>
          <p:nvPr/>
        </p:nvSpPr>
        <p:spPr>
          <a:xfrm>
            <a:off x="548640" y="3200400"/>
            <a:ext cx="3246120" cy="749808"/>
          </a:xfrm>
          <a:prstGeom prst="roundRect">
            <a:avLst>
              <a:gd fmla="val 9756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0"/>
          <p:cNvSpPr/>
          <p:nvPr/>
        </p:nvSpPr>
        <p:spPr>
          <a:xfrm>
            <a:off x="676656" y="3346704"/>
            <a:ext cx="457200" cy="457200"/>
          </a:xfrm>
          <a:prstGeom prst="ellipse">
            <a:avLst/>
          </a:prstGeom>
          <a:solidFill>
            <a:srgbClr val="5742DE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5" name="Google Shape;102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528" y="34655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30"/>
          <p:cNvSpPr/>
          <p:nvPr/>
        </p:nvSpPr>
        <p:spPr>
          <a:xfrm>
            <a:off x="1234440" y="320040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 maîtrisée, pas autonome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0"/>
          <p:cNvSpPr/>
          <p:nvPr/>
        </p:nvSpPr>
        <p:spPr>
          <a:xfrm>
            <a:off x="4251960" y="3200400"/>
            <a:ext cx="3246120" cy="749808"/>
          </a:xfrm>
          <a:prstGeom prst="roundRect">
            <a:avLst>
              <a:gd fmla="val 9756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0"/>
          <p:cNvSpPr/>
          <p:nvPr/>
        </p:nvSpPr>
        <p:spPr>
          <a:xfrm>
            <a:off x="4379976" y="3346704"/>
            <a:ext cx="457200" cy="457200"/>
          </a:xfrm>
          <a:prstGeom prst="ellipse">
            <a:avLst/>
          </a:prstGeom>
          <a:solidFill>
            <a:srgbClr val="5742DE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9" name="Google Shape;1029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8848" y="34655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30"/>
          <p:cNvSpPr/>
          <p:nvPr/>
        </p:nvSpPr>
        <p:spPr>
          <a:xfrm>
            <a:off x="4937760" y="320040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Qualité contrôlée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0"/>
          <p:cNvSpPr/>
          <p:nvPr/>
        </p:nvSpPr>
        <p:spPr>
          <a:xfrm>
            <a:off x="548640" y="4206240"/>
            <a:ext cx="3246120" cy="749808"/>
          </a:xfrm>
          <a:prstGeom prst="roundRect">
            <a:avLst>
              <a:gd fmla="val 9756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0"/>
          <p:cNvSpPr/>
          <p:nvPr/>
        </p:nvSpPr>
        <p:spPr>
          <a:xfrm>
            <a:off x="676656" y="4352544"/>
            <a:ext cx="457200" cy="457200"/>
          </a:xfrm>
          <a:prstGeom prst="ellipse">
            <a:avLst/>
          </a:prstGeom>
          <a:solidFill>
            <a:srgbClr val="5742DE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3" name="Google Shape;103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5528" y="44714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30"/>
          <p:cNvSpPr/>
          <p:nvPr/>
        </p:nvSpPr>
        <p:spPr>
          <a:xfrm>
            <a:off x="1234440" y="420624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maintenable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0"/>
          <p:cNvSpPr/>
          <p:nvPr/>
        </p:nvSpPr>
        <p:spPr>
          <a:xfrm>
            <a:off x="4251960" y="4206240"/>
            <a:ext cx="3246120" cy="749808"/>
          </a:xfrm>
          <a:prstGeom prst="roundRect">
            <a:avLst>
              <a:gd fmla="val 9756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0"/>
          <p:cNvSpPr/>
          <p:nvPr/>
        </p:nvSpPr>
        <p:spPr>
          <a:xfrm>
            <a:off x="4379976" y="4352544"/>
            <a:ext cx="457200" cy="457200"/>
          </a:xfrm>
          <a:prstGeom prst="ellipse">
            <a:avLst/>
          </a:prstGeom>
          <a:solidFill>
            <a:srgbClr val="5742DE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7" name="Google Shape;1037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8848" y="44714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30"/>
          <p:cNvSpPr/>
          <p:nvPr/>
        </p:nvSpPr>
        <p:spPr>
          <a:xfrm>
            <a:off x="4937760" y="420624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Sécurité by design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0"/>
          <p:cNvSpPr/>
          <p:nvPr/>
        </p:nvSpPr>
        <p:spPr>
          <a:xfrm>
            <a:off x="548640" y="5212080"/>
            <a:ext cx="3246120" cy="749808"/>
          </a:xfrm>
          <a:prstGeom prst="roundRect">
            <a:avLst>
              <a:gd fmla="val 9756" name="adj"/>
            </a:avLst>
          </a:prstGeom>
          <a:solidFill>
            <a:srgbClr val="2E3266"/>
          </a:solidFill>
          <a:ln cap="flat" cmpd="sng" w="12700">
            <a:solidFill>
              <a:srgbClr val="453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0"/>
          <p:cNvSpPr/>
          <p:nvPr/>
        </p:nvSpPr>
        <p:spPr>
          <a:xfrm>
            <a:off x="676656" y="5358384"/>
            <a:ext cx="457200" cy="457200"/>
          </a:xfrm>
          <a:prstGeom prst="ellipse">
            <a:avLst/>
          </a:prstGeom>
          <a:solidFill>
            <a:srgbClr val="5742DE"/>
          </a:solidFill>
          <a:ln>
            <a:noFill/>
          </a:ln>
          <a:effectLst>
            <a:outerShdw blurRad="76200" rotWithShape="0" algn="bl" dir="5400000" dist="25400">
              <a:srgbClr val="3B3F7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1" name="Google Shape;1041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528" y="54772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30"/>
          <p:cNvSpPr/>
          <p:nvPr/>
        </p:nvSpPr>
        <p:spPr>
          <a:xfrm>
            <a:off x="1234440" y="521208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Accompagnement long terme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0"/>
          <p:cNvSpPr/>
          <p:nvPr/>
        </p:nvSpPr>
        <p:spPr>
          <a:xfrm>
            <a:off x="7955280" y="2194560"/>
            <a:ext cx="3687775" cy="3383280"/>
          </a:xfrm>
          <a:prstGeom prst="roundRect">
            <a:avLst>
              <a:gd fmla="val 2432" name="adj"/>
            </a:avLst>
          </a:prstGeom>
          <a:solidFill>
            <a:srgbClr val="5742DE"/>
          </a:solidFill>
          <a:ln>
            <a:noFill/>
          </a:ln>
          <a:effectLst>
            <a:outerShdw blurRad="88900" rotWithShape="0" algn="bl" dir="5400000" dist="25400">
              <a:srgbClr val="3B3F7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0"/>
          <p:cNvSpPr/>
          <p:nvPr/>
        </p:nvSpPr>
        <p:spPr>
          <a:xfrm>
            <a:off x="8275320" y="2514600"/>
            <a:ext cx="3047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Prochaine étape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0"/>
          <p:cNvSpPr/>
          <p:nvPr/>
        </p:nvSpPr>
        <p:spPr>
          <a:xfrm>
            <a:off x="8275320" y="3063240"/>
            <a:ext cx="30476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2F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3F2FB"/>
                </a:solidFill>
                <a:latin typeface="Calibri"/>
                <a:ea typeface="Calibri"/>
                <a:cs typeface="Calibri"/>
                <a:sym typeface="Calibri"/>
              </a:rPr>
              <a:t>Cadrer le projet et lancer la Discovery.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0"/>
          <p:cNvSpPr/>
          <p:nvPr/>
        </p:nvSpPr>
        <p:spPr>
          <a:xfrm>
            <a:off x="8275320" y="4846320"/>
            <a:ext cx="3047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your time 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0"/>
          <p:cNvSpPr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CBAEB"/>
                </a:solidFill>
                <a:latin typeface="Calibri"/>
                <a:ea typeface="Calibri"/>
                <a:cs typeface="Calibri"/>
                <a:sym typeface="Calibri"/>
              </a:rPr>
              <a:t>DataToForm AI / Likyly   ·   Arnaud BRETON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